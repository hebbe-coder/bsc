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1371600"/>
            <a:ext cx="3474720" cy="4114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54864" cy="411480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E8E8E8"/>
                </a:solidFill>
                <a:latin typeface="Albert Sans"/>
              </a:defRPr>
            </a:pPr>
            <a:r>
              <a:t>Business System</a:t>
            </a:r>
            <a:br/>
            <a:r>
              <a:t>Compiler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9A84C"/>
                </a:solidFill>
                <a:latin typeface="Albert Sans"/>
              </a:defRPr>
            </a:pPr>
            <a:r>
              <a:t>Business System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8B8B8"/>
                </a:solidFill>
                <a:latin typeface="Albert Sans"/>
              </a:defRPr>
            </a:pPr>
            <a:r>
              <a:t>Executive Bid Deck | July 03,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E9E9E"/>
                </a:solidFill>
                <a:latin typeface="Albert Sans"/>
              </a:defRPr>
            </a:pPr>
            <a:r>
              <a:t>Prepared by BSC Engine v6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6217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9A84C"/>
                </a:solidFill>
                <a:latin typeface="Albert Sans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8B8B8"/>
                </a:solidFill>
                <a:latin typeface="Albert Sans"/>
              </a:defRPr>
            </a:pPr>
            <a:r>
              <a:t>Business overview and key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BSC Engine v6 | Bid Deck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3A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9A84C"/>
                </a:solidFill>
              </a:defRPr>
            </a:pPr>
            <a:r>
              <a:t>Business Objective</a:t>
            </a:r>
          </a:p>
          <a:p>
            <a:pPr>
              <a:defRPr sz="1000" b="0">
                <a:solidFill>
                  <a:srgbClr val="E0E0E0"/>
                </a:solidFill>
              </a:defRPr>
            </a:pPr>
            <a:r>
              <a:t>Content Ingestion AI Screening Engine Human Review Workbench Operations Analytics</a:t>
            </a:r>
          </a:p>
          <a:p>
            <a:pPr>
              <a:defRPr sz="1000" b="0">
                <a:solidFill>
                  <a:srgbClr val="9E9E9E"/>
                </a:solidFill>
              </a:defRPr>
            </a:pPr>
          </a:p>
          <a:p>
            <a:pPr>
              <a:defRPr sz="1000" b="1">
                <a:solidFill>
                  <a:srgbClr val="C9A84C"/>
                </a:solidFill>
              </a:defRPr>
            </a:pPr>
            <a:r>
              <a:t>Key Statistics</a:t>
            </a:r>
          </a:p>
          <a:p>
            <a:pPr>
              <a:defRPr sz="1000" b="0">
                <a:solidFill>
                  <a:srgbClr val="E0E0E0"/>
                </a:solidFill>
              </a:defRPr>
            </a:pPr>
            <a:r>
              <a:t>  Modules: 4</a:t>
            </a:r>
          </a:p>
          <a:p>
            <a:pPr>
              <a:defRPr sz="1000" b="0">
                <a:solidFill>
                  <a:srgbClr val="E0E0E0"/>
                </a:solidFill>
              </a:defRPr>
            </a:pPr>
            <a:r>
              <a:t>  Workflow Steps: 7</a:t>
            </a:r>
          </a:p>
          <a:p>
            <a:pPr>
              <a:defRPr sz="1000" b="0">
                <a:solidFill>
                  <a:srgbClr val="E0E0E0"/>
                </a:solidFill>
              </a:defRPr>
            </a:pPr>
            <a:r>
              <a:t>  KPIs Tracked: 1</a:t>
            </a:r>
          </a:p>
          <a:p>
            <a:pPr>
              <a:defRPr sz="1000" b="0">
                <a:solidFill>
                  <a:srgbClr val="E0E0E0"/>
                </a:solidFill>
              </a:defRPr>
            </a:pPr>
            <a:r>
              <a:t>  Risk Items: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80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A9E96"/>
                </a:solidFill>
                <a:latin typeface="Albert Sans"/>
              </a:defRPr>
            </a:pPr>
            <a:r>
              <a:t>System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0E0E0"/>
                </a:solidFill>
              </a:defRPr>
            </a:pPr>
            <a:r>
              <a:t>1. Content Ingestion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2. AI Screening Engine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3. Human Review Workbench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4. Operations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9A84C"/>
                </a:solidFill>
                <a:latin typeface="Albert Sans"/>
              </a:defRPr>
            </a:pPr>
            <a:r>
              <a:t>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8B8B8"/>
                </a:solidFill>
                <a:latin typeface="Albert Sans"/>
              </a:defRPr>
            </a:pPr>
            <a:r>
              <a:t>Why this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BSC Engine v6 | Bid Deck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3A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188720"/>
            <a:ext cx="3291840" cy="2743200"/>
          </a:xfrm>
          <a:prstGeom prst="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80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Albert Sans"/>
              </a:defRPr>
            </a:pPr>
            <a:r>
              <a:t>Operational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0E0E0"/>
                </a:solidFill>
              </a:defRPr>
            </a:pPr>
            <a:r>
              <a:t>Automated workflow reduces manual effort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Clear SOP with defined owners and SLAs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Real-time monitoring and alerting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188720"/>
            <a:ext cx="3291840" cy="2743200"/>
          </a:xfrm>
          <a:prstGeom prst="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280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A9E96"/>
                </a:solidFill>
                <a:latin typeface="Albert Sans"/>
              </a:defRPr>
            </a:pPr>
            <a:r>
              <a:t>Quality &amp;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0E0E0"/>
                </a:solidFill>
              </a:defRPr>
            </a:pPr>
            <a:r>
              <a:t>Consistent rule enforcement across system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Audit trail and traceability built-in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Risk mitigation with proactive alerts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188720"/>
            <a:ext cx="3291840" cy="2743200"/>
          </a:xfrm>
          <a:prstGeom prst="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1280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8923A"/>
                </a:solidFill>
                <a:latin typeface="Albert Sans"/>
              </a:defRPr>
            </a:pPr>
            <a:r>
              <a:t>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0E0E0"/>
                </a:solidFill>
              </a:defRPr>
            </a:pPr>
            <a:r>
              <a:t>Modular architecture for easy expansion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Handles growing volume without degradation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Industry-adaptable templates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9A84C"/>
                </a:solidFill>
                <a:latin typeface="Albert Sans"/>
              </a:defRPr>
            </a:pPr>
            <a: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8B8B8"/>
                </a:solidFill>
                <a:latin typeface="Albert Sans"/>
              </a:defRPr>
            </a:pPr>
            <a:r>
              <a:t>System modules and relationships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BSC Engine v6 | Bid Deck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3A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188720"/>
            <a:ext cx="3291840" cy="2377440"/>
          </a:xfrm>
          <a:prstGeom prst="rect">
            <a:avLst/>
          </a:prstGeom>
          <a:solidFill>
            <a:srgbClr val="0A0D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188720"/>
            <a:ext cx="3291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325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E8E8"/>
                </a:solidFill>
                <a:latin typeface="Albert Sans"/>
              </a:defRPr>
            </a:pPr>
            <a:r>
              <a:t>01  Content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691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B8B8"/>
                </a:solidFill>
                <a:latin typeface="Albert Sans"/>
              </a:defRPr>
            </a:pPr>
            <a:r>
              <a:t>Accepts user-submitted content via API and web upload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188720"/>
            <a:ext cx="3291840" cy="2377440"/>
          </a:xfrm>
          <a:prstGeom prst="rect">
            <a:avLst/>
          </a:prstGeom>
          <a:solidFill>
            <a:srgbClr val="0A0D0F"/>
          </a:solidFill>
          <a:ln w="10160">
            <a:solidFill>
              <a:srgbClr val="5A9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188720"/>
            <a:ext cx="3291840" cy="36576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325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E8E8"/>
                </a:solidFill>
                <a:latin typeface="Albert Sans"/>
              </a:defRPr>
            </a:pPr>
            <a:r>
              <a:t>02  AI Screening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91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B8B8"/>
                </a:solidFill>
                <a:latin typeface="Albert Sans"/>
              </a:defRPr>
            </a:pPr>
            <a:r>
              <a:t>Automated screening for sensitive words and policy violations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1188720"/>
            <a:ext cx="3291840" cy="2377440"/>
          </a:xfrm>
          <a:prstGeom prst="rect">
            <a:avLst/>
          </a:prstGeom>
          <a:solidFill>
            <a:srgbClr val="0A0D0F"/>
          </a:solidFill>
          <a:ln w="1016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1188720"/>
            <a:ext cx="3291840" cy="36576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1325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E8E8"/>
                </a:solidFill>
                <a:latin typeface="Albert Sans"/>
              </a:defRPr>
            </a:pPr>
            <a:r>
              <a:t>03  Human Review Workbench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16916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B8B8"/>
                </a:solidFill>
                <a:latin typeface="Albert Sans"/>
              </a:defRPr>
            </a:pPr>
            <a:r>
              <a:t>Review queue for flagged content with audit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20040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Deps: {'module_name': 'ai-screening', 'type': 'process', 'required': True}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749040"/>
            <a:ext cx="3291840" cy="2377440"/>
          </a:xfrm>
          <a:prstGeom prst="rect">
            <a:avLst/>
          </a:prstGeom>
          <a:solidFill>
            <a:srgbClr val="0A0D0F"/>
          </a:solidFill>
          <a:ln w="10160">
            <a:solidFill>
              <a:srgbClr val="8B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749040"/>
            <a:ext cx="3291840" cy="36576"/>
          </a:xfrm>
          <a:prstGeom prst="rect">
            <a:avLst/>
          </a:prstGeom>
          <a:solidFill>
            <a:srgbClr val="8B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8E8E8"/>
                </a:solidFill>
                <a:latin typeface="Albert Sans"/>
              </a:defRPr>
            </a:pPr>
            <a:r>
              <a:t>04  Operations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2519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B8B8"/>
                </a:solidFill>
                <a:latin typeface="Albert Sans"/>
              </a:defRPr>
            </a:pPr>
            <a:r>
              <a:t>Real-time dashboards for throughput and SLA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E"/>
                </a:solidFill>
                <a:latin typeface="Albert Sans"/>
              </a:defRPr>
            </a:pPr>
            <a:r>
              <a:t>Total: 4 modules | FastAPI + Python + AI-powered compilation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9A84C"/>
                </a:solidFill>
                <a:latin typeface="Albert Sans"/>
              </a:defRPr>
            </a:pPr>
            <a:r>
              <a:t>SOP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8B8B8"/>
                </a:solidFill>
                <a:latin typeface="Albert Sans"/>
              </a:defRPr>
            </a:pPr>
            <a:r>
              <a:t>End-to-end process flow with owners and 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BSC Engine v6 | Bid Deck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3A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188720"/>
            <a:ext cx="411480" cy="411480"/>
          </a:xfrm>
          <a:prstGeom prst="rect">
            <a:avLst/>
          </a:prstGeom>
          <a:solidFill>
            <a:srgbClr val="C9A84C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D0F"/>
                </a:solidFill>
                <a:latin typeface="Albert San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188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E8E8"/>
                </a:solidFill>
                <a:latin typeface="Albert Sans"/>
              </a:defRPr>
            </a:pPr>
            <a:r>
              <a:t>Submit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447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Owner: Content Creator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4447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E"/>
                </a:solidFill>
                <a:latin typeface="Albert Sans"/>
              </a:defRPr>
            </a:pPr>
            <a:r>
              <a:t>-&gt; 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" y="1600200"/>
            <a:ext cx="18288" cy="2468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847088"/>
            <a:ext cx="411480" cy="411480"/>
          </a:xfrm>
          <a:prstGeom prst="rect">
            <a:avLst/>
          </a:prstGeom>
          <a:solidFill>
            <a:srgbClr val="5A9E96"/>
          </a:solidFill>
          <a:ln w="10160">
            <a:solidFill>
              <a:srgbClr val="5A9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89280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D0F"/>
                </a:solidFill>
                <a:latin typeface="Albert San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8470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E8E8"/>
                </a:solidFill>
                <a:latin typeface="Albert Sans"/>
              </a:defRPr>
            </a:pPr>
            <a:r>
              <a:t>AI Auto-Screening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1031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Owner: AI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8928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C9A84C"/>
                </a:solidFill>
                <a:latin typeface="Albert Sans"/>
              </a:defRPr>
            </a:pPr>
            <a:r>
              <a:t>SLA: 0.002h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1031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E"/>
                </a:solidFill>
                <a:latin typeface="Albert Sans"/>
              </a:defRPr>
            </a:pPr>
            <a:r>
              <a:t>-&gt; 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" y="2258568"/>
            <a:ext cx="18288" cy="246888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505456"/>
            <a:ext cx="411480" cy="411480"/>
          </a:xfrm>
          <a:prstGeom prst="rect">
            <a:avLst/>
          </a:prstGeom>
          <a:solidFill>
            <a:srgbClr val="B8923A"/>
          </a:solidFill>
          <a:ln w="1016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551176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D0F"/>
                </a:solidFill>
                <a:latin typeface="Albert San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25054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E8E8"/>
                </a:solidFill>
                <a:latin typeface="Albert Sans"/>
              </a:defRPr>
            </a:pPr>
            <a:r>
              <a:t>Risk Classification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7614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Owner: AI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27614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E"/>
                </a:solidFill>
                <a:latin typeface="Albert Sans"/>
              </a:defRPr>
            </a:pPr>
            <a:r>
              <a:t>-&gt; 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" y="2916936"/>
            <a:ext cx="18288" cy="24688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163824"/>
            <a:ext cx="411480" cy="411480"/>
          </a:xfrm>
          <a:prstGeom prst="rect">
            <a:avLst/>
          </a:prstGeom>
          <a:solidFill>
            <a:srgbClr val="8BC4BE"/>
          </a:solidFill>
          <a:ln w="10160">
            <a:solidFill>
              <a:srgbClr val="8BC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209544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D0F"/>
                </a:solidFill>
                <a:latin typeface="Albert Sans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1638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E8E8"/>
                </a:solidFill>
                <a:latin typeface="Albert Sans"/>
              </a:defRPr>
            </a:pPr>
            <a:r>
              <a:t>Human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41985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Owner: Human Reviewer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209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C9A84C"/>
                </a:solidFill>
                <a:latin typeface="Albert Sans"/>
              </a:defRPr>
            </a:pPr>
            <a:r>
              <a:t>SLA: 24.0h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341985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E"/>
                </a:solidFill>
                <a:latin typeface="Albert Sans"/>
              </a:defRPr>
            </a:pPr>
            <a:r>
              <a:t>-&gt; END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" y="3575304"/>
            <a:ext cx="18288" cy="246888"/>
          </a:xfrm>
          <a:prstGeom prst="rect">
            <a:avLst/>
          </a:prstGeom>
          <a:solidFill>
            <a:srgbClr val="8B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3822192"/>
            <a:ext cx="411480" cy="411480"/>
          </a:xfrm>
          <a:prstGeom prst="rect">
            <a:avLst/>
          </a:prstGeom>
          <a:solidFill>
            <a:srgbClr val="C9A84C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8679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D0F"/>
                </a:solidFill>
                <a:latin typeface="Albert Sans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38221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E8E8"/>
                </a:solidFill>
                <a:latin typeface="Albert Sans"/>
              </a:defRPr>
            </a:pPr>
            <a:r>
              <a:t>Review 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07822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Owner: Human Reviewer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407822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E"/>
                </a:solidFill>
                <a:latin typeface="Albert Sans"/>
              </a:defRPr>
            </a:pPr>
            <a:r>
              <a:t>-&gt; END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8116" y="4233672"/>
            <a:ext cx="18288" cy="2468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4480560"/>
            <a:ext cx="411480" cy="411480"/>
          </a:xfrm>
          <a:prstGeom prst="rect">
            <a:avLst/>
          </a:prstGeom>
          <a:solidFill>
            <a:srgbClr val="5A9E96"/>
          </a:solidFill>
          <a:ln w="10160">
            <a:solidFill>
              <a:srgbClr val="5A9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5262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D0F"/>
                </a:solidFill>
                <a:latin typeface="Albert Sans"/>
              </a:defRPr>
            </a:pPr>
            <a: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4480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E8E8"/>
                </a:solidFill>
                <a:latin typeface="Albert Sans"/>
              </a:defRPr>
            </a:pPr>
            <a:r>
              <a:t>Publish Content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47365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Owner: 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47365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E"/>
                </a:solidFill>
                <a:latin typeface="Albert Sans"/>
              </a:defRPr>
            </a:pPr>
            <a:r>
              <a:t>-&gt; END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116" y="4892040"/>
            <a:ext cx="18288" cy="246888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" y="5138928"/>
            <a:ext cx="411480" cy="411480"/>
          </a:xfrm>
          <a:prstGeom prst="rect">
            <a:avLst/>
          </a:prstGeom>
          <a:solidFill>
            <a:srgbClr val="B8923A"/>
          </a:solidFill>
          <a:ln w="1016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1846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D0F"/>
                </a:solidFill>
                <a:latin typeface="Albert Sans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51389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8E8E8"/>
                </a:solidFill>
                <a:latin typeface="Albert Sans"/>
              </a:defRPr>
            </a:pPr>
            <a:r>
              <a:t>Notify Rejection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53949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Owner: System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0" y="53949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E9E9E"/>
                </a:solidFill>
                <a:latin typeface="Albert Sans"/>
              </a:defRPr>
            </a:pPr>
            <a:r>
              <a:t>-&gt; 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9A84C"/>
                </a:solidFill>
                <a:latin typeface="Albert Sans"/>
              </a:defRPr>
            </a:pPr>
            <a:r>
              <a:t>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8B8B8"/>
                </a:solidFill>
                <a:latin typeface="Albert Sans"/>
              </a:defRPr>
            </a:pPr>
            <a:r>
              <a:t>Key performance indicators with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BSC Engine v6 | Bid Deck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3A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188720"/>
            <a:ext cx="2423160" cy="2286000"/>
          </a:xfrm>
          <a:prstGeom prst="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280160"/>
            <a:ext cx="2203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Content Moderation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508760"/>
            <a:ext cx="2203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9A84C"/>
                </a:solidFill>
                <a:latin typeface="Albert San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9A84C"/>
                </a:solidFill>
                <a:latin typeface="Albert Sans"/>
              </a:defRPr>
            </a:pPr>
            <a:r>
              <a:t>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8B8B8"/>
                </a:solidFill>
                <a:latin typeface="Albert Sans"/>
              </a:defRPr>
            </a:pPr>
            <a:r>
              <a:t>Risk matrix with impact, probability, and mitigation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BSC Engine v6 | Bid Deck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3A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188720"/>
            <a:ext cx="3291840" cy="2377440"/>
          </a:xfrm>
          <a:prstGeom prst="rect">
            <a:avLst/>
          </a:prstGeom>
          <a:solidFill>
            <a:srgbClr val="0A0D0F"/>
          </a:solidFill>
          <a:ln w="1016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188720"/>
            <a:ext cx="3291840" cy="36576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3258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E8E8"/>
                </a:solidFill>
                <a:latin typeface="Albert Sans"/>
              </a:defRPr>
            </a:pPr>
            <a:r>
              <a:t>[HIGH] AI False Negatives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645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Harmful content passes AI undetected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377440"/>
            <a:ext cx="3017520" cy="54864"/>
          </a:xfrm>
          <a:prstGeom prst="rect">
            <a:avLst/>
          </a:prstGeom>
          <a:solidFill>
            <a:srgbClr val="26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2377440"/>
            <a:ext cx="1810511" cy="54864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B8923A"/>
                </a:solidFill>
                <a:latin typeface="Albert Sans"/>
              </a:defRPr>
            </a:pPr>
            <a:r>
              <a:t>Score: 6/10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Mitigation: Weekly model retraining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188720"/>
            <a:ext cx="3291840" cy="2377440"/>
          </a:xfrm>
          <a:prstGeom prst="rect">
            <a:avLst/>
          </a:prstGeom>
          <a:solidFill>
            <a:srgbClr val="0A0D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188720"/>
            <a:ext cx="32918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13258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E8E8"/>
                </a:solidFill>
                <a:latin typeface="Albert Sans"/>
              </a:defRPr>
            </a:pPr>
            <a:r>
              <a:t>[MEDIUM] Reviewer Fatigue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1645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Reviewers make errors after long shifts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1688" y="2377440"/>
            <a:ext cx="3017520" cy="54864"/>
          </a:xfrm>
          <a:prstGeom prst="rect">
            <a:avLst/>
          </a:prstGeom>
          <a:solidFill>
            <a:srgbClr val="26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1688" y="2377440"/>
            <a:ext cx="1207008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C9A84C"/>
                </a:solidFill>
                <a:latin typeface="Albert Sans"/>
              </a:defRPr>
            </a:pPr>
            <a:r>
              <a:t>Score: 4/10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Mitigation: Mandatory breaks + rotation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188720"/>
            <a:ext cx="3291840" cy="2377440"/>
          </a:xfrm>
          <a:prstGeom prst="rect">
            <a:avLst/>
          </a:prstGeom>
          <a:solidFill>
            <a:srgbClr val="0A0D0F"/>
          </a:solidFill>
          <a:ln w="1016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188720"/>
            <a:ext cx="3291840" cy="36576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82128" y="13258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E8E8"/>
                </a:solidFill>
                <a:latin typeface="Albert Sans"/>
              </a:defRPr>
            </a:pPr>
            <a:r>
              <a:t>[HIGH] Peak Volume Overload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8" y="1645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Viral event exceeds capacity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8" y="2377440"/>
            <a:ext cx="3017520" cy="54864"/>
          </a:xfrm>
          <a:prstGeom prst="rect">
            <a:avLst/>
          </a:prstGeom>
          <a:solidFill>
            <a:srgbClr val="26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82128" y="2377440"/>
            <a:ext cx="905255" cy="54864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8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B8923A"/>
                </a:solidFill>
                <a:latin typeface="Albert Sans"/>
              </a:defRPr>
            </a:pPr>
            <a:r>
              <a:t>Score: 3/10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8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Mitigation: Auto-scale reviewer pool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749040"/>
            <a:ext cx="3291840" cy="2377440"/>
          </a:xfrm>
          <a:prstGeom prst="rect">
            <a:avLst/>
          </a:prstGeom>
          <a:solidFill>
            <a:srgbClr val="0A0D0F"/>
          </a:solidFill>
          <a:ln w="10160">
            <a:solidFill>
              <a:srgbClr val="B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3749040"/>
            <a:ext cx="3291840" cy="36576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886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8E8E8"/>
                </a:solidFill>
                <a:latin typeface="Albert Sans"/>
              </a:defRPr>
            </a:pPr>
            <a:r>
              <a:t>[HIGH] API Downtime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2062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Screening API outage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" y="4937760"/>
            <a:ext cx="3017520" cy="54864"/>
          </a:xfrm>
          <a:prstGeom prst="rect">
            <a:avLst/>
          </a:prstGeom>
          <a:solidFill>
            <a:srgbClr val="26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" y="4937760"/>
            <a:ext cx="905255" cy="54864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50292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B8923A"/>
                </a:solidFill>
                <a:latin typeface="Albert Sans"/>
              </a:defRPr>
            </a:pPr>
            <a:r>
              <a:t>Score: 3/10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53035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Mitigation: Multi-region failover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9A84C"/>
                </a:solidFill>
                <a:latin typeface="Albert Sans"/>
              </a:defRPr>
            </a:pPr>
            <a:r>
              <a:t>ROI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8B8B8"/>
                </a:solidFill>
                <a:latin typeface="Albert Sans"/>
              </a:defRPr>
            </a:pPr>
            <a:r>
              <a:t>Expected return on investment and cost savings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BSC Engine v6 | Bid Deck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3A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188720"/>
            <a:ext cx="2468880" cy="2286000"/>
          </a:xfrm>
          <a:prstGeom prst="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280160"/>
            <a:ext cx="2249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Cost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508760"/>
            <a:ext cx="2249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9A84C"/>
                </a:solidFill>
                <a:latin typeface="Albert Sans"/>
              </a:defRPr>
            </a:pPr>
            <a:r>
              <a:t>35-50%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11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B8B8"/>
                </a:solidFill>
                <a:latin typeface="Albert Sans"/>
              </a:defRPr>
            </a:pPr>
            <a:r>
              <a:t>Reduced manual effort</a:t>
            </a:r>
            <a:br/>
            <a:r>
              <a:t>through automation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188720"/>
            <a:ext cx="2468880" cy="2286000"/>
          </a:xfrm>
          <a:prstGeom prst="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280160"/>
            <a:ext cx="2249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Efficiency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1508760"/>
            <a:ext cx="2249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A9E96"/>
                </a:solidFill>
                <a:latin typeface="Albert Sans"/>
              </a:defRPr>
            </a:pPr>
            <a:r>
              <a:t>2.5x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011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B8B8"/>
                </a:solidFill>
                <a:latin typeface="Albert Sans"/>
              </a:defRPr>
            </a:pPr>
            <a:r>
              <a:t>Faster processing with</a:t>
            </a:r>
            <a:br/>
            <a:r>
              <a:t>AI-assisted workflows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2468880" cy="2286000"/>
          </a:xfrm>
          <a:prstGeom prst="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280160"/>
            <a:ext cx="2249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Quality Improvement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1508760"/>
            <a:ext cx="2249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B8923A"/>
                </a:solidFill>
                <a:latin typeface="Albert Sans"/>
              </a:defRPr>
            </a:pPr>
            <a:r>
              <a:t>+22%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2011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B8B8"/>
                </a:solidFill>
                <a:latin typeface="Albert Sans"/>
              </a:defRPr>
            </a:pPr>
            <a:r>
              <a:t>Consistent enforcement</a:t>
            </a:r>
            <a:br/>
            <a:r>
              <a:t>reduces error rates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1188720"/>
            <a:ext cx="2468880" cy="2286000"/>
          </a:xfrm>
          <a:prstGeom prst="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33688" y="1280160"/>
            <a:ext cx="2249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8B8B8"/>
                </a:solidFill>
                <a:latin typeface="Albert Sans"/>
              </a:defRPr>
            </a:pPr>
            <a:r>
              <a:t>Time to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1508760"/>
            <a:ext cx="2249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C4BE"/>
                </a:solidFill>
                <a:latin typeface="Albert Sans"/>
              </a:defRPr>
            </a:pPr>
            <a:r>
              <a:t>-60%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20116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8B8B8"/>
                </a:solidFill>
                <a:latin typeface="Albert Sans"/>
              </a:defRPr>
            </a:pPr>
            <a:r>
              <a:t>Accelerated deployment</a:t>
            </a:r>
            <a:br/>
            <a:r>
              <a:t>with pre-built templates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840480"/>
            <a:ext cx="10728655" cy="2468880"/>
          </a:xfrm>
          <a:prstGeom prst="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84C"/>
                </a:solidFill>
                <a:latin typeface="Albert Sans"/>
              </a:defRPr>
            </a:pPr>
            <a:r>
              <a:t>Annual Projected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2519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8E8E8"/>
                </a:solidFill>
              </a:defRPr>
            </a:pPr>
            <a:r>
              <a:t>Category          Baseline    Target      Savings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Processing Time   4.2 hrs    1.8 hrs     57% reduction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Manual Reviews   100%       40%         60% automation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Error Rate        3.2%       1.1%        65% improvement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Staff Utilization 68%        92%         +24% efficiency</a:t>
            </a:r>
          </a:p>
          <a:p>
            <a:pPr>
              <a:defRPr sz="900" b="0">
                <a:solidFill>
                  <a:srgbClr val="C9A84C"/>
                </a:solidFill>
              </a:defRPr>
            </a:pPr>
            <a:r>
              <a:t>Monthly Cost      $45K       $28K        -38%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9A84C"/>
                </a:solidFill>
                <a:latin typeface="Albert Sans"/>
              </a:defRPr>
            </a:pPr>
            <a:r>
              <a:t>Implementation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8B8B8"/>
                </a:solidFill>
                <a:latin typeface="Albert Sans"/>
              </a:defRPr>
            </a:pPr>
            <a:r>
              <a:t>Phased rollout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BSC Engine v6 | Bid Deck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37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13716"/>
          </a:xfrm>
          <a:prstGeom prst="rect">
            <a:avLst/>
          </a:prstGeom>
          <a:solidFill>
            <a:srgbClr val="3A3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246888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0D0F"/>
                </a:solidFill>
                <a:latin typeface="Albert Sans"/>
              </a:defRPr>
            </a:pPr>
            <a:r>
              <a:t>Phase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54480"/>
            <a:ext cx="22860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920240"/>
            <a:ext cx="2468880" cy="3657600"/>
          </a:xfrm>
          <a:prstGeom prst="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9A84C"/>
                </a:solidFill>
                <a:latin typeface="Albert Sans"/>
              </a:defRPr>
            </a:pPr>
            <a:r>
              <a:t>Foundation - Weeks 1-4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317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0E0E0"/>
                </a:solidFill>
              </a:defRPr>
            </a:pPr>
            <a:r>
              <a:t>  Core system architecture setup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  Module scaffolding and data models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  API infrastructure and health checks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  Mock compiler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1371600"/>
            <a:ext cx="2468880" cy="411480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371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0D0F"/>
                </a:solidFill>
                <a:latin typeface="Albert Sans"/>
              </a:defRPr>
            </a:pPr>
            <a:r>
              <a:t>Phase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554480"/>
            <a:ext cx="228600" cy="18288"/>
          </a:xfrm>
          <a:prstGeom prst="rect">
            <a:avLst/>
          </a:prstGeom>
          <a:solidFill>
            <a:srgbClr val="5A9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9000" y="1920240"/>
            <a:ext cx="2468880" cy="3657600"/>
          </a:xfrm>
          <a:prstGeom prst="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A9E96"/>
                </a:solidFill>
                <a:latin typeface="Albert Sans"/>
              </a:defRPr>
            </a:pPr>
            <a:r>
              <a:t>Core Features - Weeks 5-8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3317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0E0E0"/>
                </a:solidFill>
              </a:defRPr>
            </a:pPr>
            <a:r>
              <a:t>  LLM compiler integration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  Graph engine and validation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  KPI and metric system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  Risk analysis 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371600"/>
            <a:ext cx="2468880" cy="411480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371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0D0F"/>
                </a:solidFill>
                <a:latin typeface="Albert Sans"/>
              </a:defRPr>
            </a:pPr>
            <a:r>
              <a:t>Phase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1554480"/>
            <a:ext cx="228600" cy="18288"/>
          </a:xfrm>
          <a:prstGeom prst="rect">
            <a:avLst/>
          </a:prstGeom>
          <a:solidFill>
            <a:srgbClr val="B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920240"/>
            <a:ext cx="2468880" cy="3657600"/>
          </a:xfrm>
          <a:prstGeom prst="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8923A"/>
                </a:solidFill>
                <a:latin typeface="Albert Sans"/>
              </a:defRPr>
            </a:pPr>
            <a:r>
              <a:t>Visualization - Weeks 9-12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3317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0E0E0"/>
                </a:solidFill>
              </a:defRPr>
            </a:pPr>
            <a:r>
              <a:t>  Interactive dashboard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  SOP flowchart rendering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  PPT export engine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  Decision sandbox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23960" y="1371600"/>
            <a:ext cx="2468880" cy="411480"/>
          </a:xfrm>
          <a:prstGeom prst="rect">
            <a:avLst/>
          </a:prstGeom>
          <a:solidFill>
            <a:srgbClr val="8B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1371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0D0F"/>
                </a:solidFill>
                <a:latin typeface="Albert Sans"/>
              </a:defRPr>
            </a:pPr>
            <a:r>
              <a:t>Phase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3960" y="1920240"/>
            <a:ext cx="2468880" cy="3657600"/>
          </a:xfrm>
          <a:prstGeom prst="rect">
            <a:avLst/>
          </a:prstGeom>
          <a:solidFill>
            <a:srgbClr val="0A0D0F"/>
          </a:solidFill>
          <a:ln w="10160">
            <a:solidFill>
              <a:srgbClr val="3A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C4BE"/>
                </a:solidFill>
                <a:latin typeface="Albert Sans"/>
              </a:defRPr>
            </a:pPr>
            <a:r>
              <a:t>Production - Weeks 13-16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3317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0E0E0"/>
                </a:solidFill>
              </a:defRPr>
            </a:pPr>
            <a:r>
              <a:t>  Performance optimization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  Load testing and scaling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  Enterprise SSO integration</a:t>
            </a:r>
          </a:p>
          <a:p>
            <a:pPr>
              <a:defRPr sz="900" b="0">
                <a:solidFill>
                  <a:srgbClr val="E0E0E0"/>
                </a:solidFill>
              </a:defRPr>
            </a:pPr>
            <a:r>
              <a:t>  Production deployment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852160"/>
            <a:ext cx="10728655" cy="548640"/>
          </a:xfrm>
          <a:prstGeom prst="rect">
            <a:avLst/>
          </a:prstGeom>
          <a:solidFill>
            <a:srgbClr val="0A0D0F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897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A84C"/>
                </a:solidFill>
                <a:latin typeface="Albert Sans"/>
              </a:defRPr>
            </a:pPr>
            <a:r>
              <a:t>Ready to deploy in 16 weeks | Contact for pilot program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C9A84C"/>
                </a:solidFill>
                <a:latin typeface="Albert San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8E8"/>
                </a:solidFill>
                <a:latin typeface="Albert Sans"/>
              </a:defRPr>
            </a:pPr>
            <a:r>
              <a:t>Business System Compiler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B8B8"/>
                </a:solidFill>
                <a:latin typeface="Albert Sans"/>
              </a:defRPr>
            </a:pPr>
            <a:r>
              <a:t>Generated by BSC Engine v6 - Business System Compiler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E9E9E"/>
                </a:solidFill>
                <a:latin typeface="Albert Sans"/>
              </a:defRPr>
            </a:pPr>
            <a:r>
              <a:t>Powering executive decisions with AI-compiled business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291840"/>
            <a:ext cx="3047695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BSC Engine v6 |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2179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E9E9E"/>
                </a:solidFill>
                <a:latin typeface="Albert San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