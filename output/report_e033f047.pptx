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8006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800600"/>
            <a:ext cx="12191695" cy="2057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400" b="0">
                <a:solidFill>
                  <a:srgbClr val="FFFFFF"/>
                </a:solidFill>
                <a:latin typeface="Arial"/>
              </a:defRPr>
            </a:pPr>
            <a:r>
              <a:t>业务系统分析报告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4000" b="1">
                <a:solidFill>
                  <a:srgbClr val="FFFFFF"/>
                </a:solidFill>
                <a:latin typeface="Arial"/>
              </a:defRPr>
            </a:pPr>
            <a:r>
              <a:t>零售电商订单管理系统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92608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400" b="0">
                <a:solidFill>
                  <a:srgbClr val="FFFFFF"/>
                </a:solidFill>
                <a:latin typeface="Arial"/>
              </a:defRPr>
            </a:pPr>
            <a:r>
              <a:t>构建一套高效的订单管理系统，实现订单全生命周期管理，提升运营效率和客户体验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3840480"/>
            <a:ext cx="137160" cy="54864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47548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100" b="0">
                <a:solidFill>
                  <a:srgbClr val="6B7280"/>
                </a:solidFill>
                <a:latin typeface="Arial"/>
              </a:defRPr>
            </a:pPr>
            <a:r>
              <a:t>行业：retail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47548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100" b="0">
                <a:solidFill>
                  <a:srgbClr val="6B7280"/>
                </a:solidFill>
                <a:latin typeface="Arial"/>
              </a:defRPr>
            </a:pPr>
            <a:r>
              <a:t>2026年07月07日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4864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000" b="0">
                <a:solidFill>
                  <a:srgbClr val="9CA3AF"/>
                </a:solidFill>
                <a:latin typeface="Arial"/>
              </a:defRPr>
            </a:pPr>
            <a:r>
              <a:t>Generated by BSC Engine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3093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  <a:defRPr sz="1800" b="1">
                <a:solidFill>
                  <a:srgbClr val="9CA3AF"/>
                </a:solidFill>
                <a:latin typeface="Consolas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2400" b="1">
                <a:solidFill>
                  <a:srgbClr val="1F2937"/>
                </a:solidFill>
                <a:latin typeface="Arial"/>
              </a:defRPr>
            </a:pPr>
            <a:r>
              <a:t>执行摘要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10728655" cy="127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100" b="0">
                <a:solidFill>
                  <a:srgbClr val="6B7280"/>
                </a:solidFill>
                <a:latin typeface="Arial"/>
              </a:defRPr>
            </a:pPr>
            <a:r>
              <a:t>系统概览与关键指标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" y="91440"/>
            <a:ext cx="4572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371600"/>
            <a:ext cx="2423160" cy="1463040"/>
          </a:xfrm>
          <a:prstGeom prst="rect">
            <a:avLst>
              <a:gd name="roundt" fmla="val 1500.0"/>
              <a:gd name="roundb" fmla="val 1500.0"/>
              <a:gd name="roundl" fmla="val 1500.0"/>
              <a:gd name="roundr" fmla="val 1500.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371600"/>
            <a:ext cx="2423160" cy="54864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50876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900" b="0">
                <a:solidFill>
                  <a:srgbClr val="6B7280"/>
                </a:solidFill>
                <a:latin typeface="Arial"/>
              </a:defRPr>
            </a:pPr>
            <a:r>
              <a:t>功能模块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178308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3600" b="1">
                <a:solidFill>
                  <a:srgbClr val="1E40AF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37560" y="1371600"/>
            <a:ext cx="2423160" cy="1463040"/>
          </a:xfrm>
          <a:prstGeom prst="rect">
            <a:avLst>
              <a:gd name="roundt" fmla="val 1500.0"/>
              <a:gd name="roundb" fmla="val 1500.0"/>
              <a:gd name="roundl" fmla="val 1500.0"/>
              <a:gd name="roundr" fmla="val 1500.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37560" y="1371600"/>
            <a:ext cx="242316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74720" y="150876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900" b="0">
                <a:solidFill>
                  <a:srgbClr val="6B7280"/>
                </a:solidFill>
                <a:latin typeface="Arial"/>
              </a:defRPr>
            </a:pPr>
            <a:r>
              <a:t>流程节点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178308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3600" b="1">
                <a:solidFill>
                  <a:srgbClr val="F59E0B"/>
                </a:solidFill>
                <a:latin typeface="Arial"/>
              </a:defRPr>
            </a:pPr>
            <a:r>
              <a:t>8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0" y="1371600"/>
            <a:ext cx="2423160" cy="1463040"/>
          </a:xfrm>
          <a:prstGeom prst="rect">
            <a:avLst>
              <a:gd name="roundt" fmla="val 1500.0"/>
              <a:gd name="roundb" fmla="val 1500.0"/>
              <a:gd name="roundl" fmla="val 1500.0"/>
              <a:gd name="roundr" fmla="val 1500.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943600" y="1371600"/>
            <a:ext cx="242316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80760" y="150876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900" b="0">
                <a:solidFill>
                  <a:srgbClr val="6B7280"/>
                </a:solidFill>
                <a:latin typeface="Arial"/>
              </a:defRPr>
            </a:pPr>
            <a:r>
              <a:t>关键指标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80760" y="178308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3600" b="1">
                <a:solidFill>
                  <a:srgbClr val="10B981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549640" y="1371600"/>
            <a:ext cx="2423160" cy="1463040"/>
          </a:xfrm>
          <a:prstGeom prst="rect">
            <a:avLst>
              <a:gd name="roundt" fmla="val 1500.0"/>
              <a:gd name="roundb" fmla="val 1500.0"/>
              <a:gd name="roundl" fmla="val 1500.0"/>
              <a:gd name="roundr" fmla="val 1500.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549640" y="1371600"/>
            <a:ext cx="2423160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0" y="150876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900" b="0">
                <a:solidFill>
                  <a:srgbClr val="6B7280"/>
                </a:solidFill>
                <a:latin typeface="Arial"/>
              </a:defRPr>
            </a:pPr>
            <a:r>
              <a:t>识别风险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0" y="178308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3600" b="1">
                <a:solidFill>
                  <a:srgbClr val="EF4444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3108960"/>
            <a:ext cx="10728655" cy="1097280"/>
          </a:xfrm>
          <a:prstGeom prst="rect">
            <a:avLst>
              <a:gd name="roundt" fmla="val 1500.0"/>
              <a:gd name="roundb" fmla="val 1500.0"/>
              <a:gd name="roundl" fmla="val 1500.0"/>
              <a:gd name="roundr" fmla="val 1500.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320040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100" b="1">
                <a:solidFill>
                  <a:srgbClr val="1E40AF"/>
                </a:solidFill>
                <a:latin typeface="Arial"/>
              </a:defRPr>
            </a:pPr>
            <a:r>
              <a:t>业务目标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352044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000" b="0">
                <a:solidFill>
                  <a:srgbClr val="1F2937"/>
                </a:solidFill>
                <a:latin typeface="Arial"/>
              </a:defRPr>
            </a:pPr>
            <a:r>
              <a:t>构建一套高效的订单管理系统，实现订单全生命周期管理，提升运营效率和客户体验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" y="4389120"/>
            <a:ext cx="4572000" cy="381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46634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200" b="1">
                <a:solidFill>
                  <a:srgbClr val="1E40AF"/>
                </a:solidFill>
                <a:latin typeface="Arial"/>
              </a:defRPr>
            </a:pPr>
            <a:r>
              <a:t>核心模块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502920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000" b="0">
                <a:solidFill>
                  <a:srgbClr val="1F2937"/>
                </a:solidFill>
                <a:latin typeface="Arial"/>
              </a:defRPr>
            </a:pPr>
            <a:r>
              <a:t>1. 订单管理模块</a:t>
            </a:r>
          </a:p>
          <a:p>
            <a:pPr>
              <a:lnSpc>
                <a:spcPct val="120000"/>
              </a:lnSpc>
              <a:defRPr sz="1000" b="0">
                <a:solidFill>
                  <a:srgbClr val="1F2937"/>
                </a:solidFill>
                <a:latin typeface="Arial"/>
              </a:defRPr>
            </a:pPr>
            <a:r>
              <a:t>2. 支付模块</a:t>
            </a:r>
          </a:p>
          <a:p>
            <a:pPr>
              <a:lnSpc>
                <a:spcPct val="120000"/>
              </a:lnSpc>
              <a:defRPr sz="1000" b="0">
                <a:solidFill>
                  <a:srgbClr val="1F2937"/>
                </a:solidFill>
                <a:latin typeface="Arial"/>
              </a:defRPr>
            </a:pPr>
            <a:r>
              <a:t>3. 库存模块</a:t>
            </a:r>
          </a:p>
          <a:p>
            <a:pPr>
              <a:lnSpc>
                <a:spcPct val="120000"/>
              </a:lnSpc>
              <a:defRPr sz="1000" b="0">
                <a:solidFill>
                  <a:srgbClr val="1F2937"/>
                </a:solidFill>
                <a:latin typeface="Arial"/>
              </a:defRPr>
            </a:pPr>
            <a:r>
              <a:t>4. 物流模块</a:t>
            </a:r>
          </a:p>
          <a:p>
            <a:pPr>
              <a:lnSpc>
                <a:spcPct val="120000"/>
              </a:lnSpc>
              <a:defRPr sz="1000" b="0">
                <a:solidFill>
                  <a:srgbClr val="1F2937"/>
                </a:solidFill>
                <a:latin typeface="Arial"/>
              </a:defRPr>
            </a:pPr>
            <a:r>
              <a:t>5. 售后模块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46634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900" b="1">
                <a:solidFill>
                  <a:srgbClr val="6B7280"/>
                </a:solidFill>
                <a:latin typeface="Arial"/>
              </a:defRPr>
            </a:pPr>
            <a:r>
              <a:t>技术架构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0" y="46634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900" b="0">
                <a:solidFill>
                  <a:srgbClr val="1F2937"/>
                </a:solidFill>
                <a:latin typeface="Arial"/>
              </a:defRPr>
            </a:pPr>
            <a:r>
              <a:t>FastAPI + Python + Redis + PostgreSQL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50749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900" b="1">
                <a:solidFill>
                  <a:srgbClr val="6B7280"/>
                </a:solidFill>
                <a:latin typeface="Arial"/>
              </a:defRPr>
            </a:pPr>
            <a:r>
              <a:t>输出格式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0" y="50749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900" b="0">
                <a:solidFill>
                  <a:srgbClr val="1F2937"/>
                </a:solidFill>
                <a:latin typeface="Arial"/>
              </a:defRPr>
            </a:pPr>
            <a:r>
              <a:t>PPTX, HTML, PDF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54864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900" b="1">
                <a:solidFill>
                  <a:srgbClr val="6B7280"/>
                </a:solidFill>
                <a:latin typeface="Arial"/>
              </a:defRPr>
            </a:pPr>
            <a:r>
              <a:t>分析维度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0" y="54864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900" b="0">
                <a:solidFill>
                  <a:srgbClr val="1F2937"/>
                </a:solidFill>
                <a:latin typeface="Arial"/>
              </a:defRPr>
            </a:pPr>
            <a:r>
              <a:t>业务理解、流程设计、风险评估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0" y="63093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  <a:defRPr sz="1800" b="1">
                <a:solidFill>
                  <a:srgbClr val="9CA3AF"/>
                </a:solidFill>
                <a:latin typeface="Consolas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2400" b="1">
                <a:solidFill>
                  <a:srgbClr val="1F2937"/>
                </a:solidFill>
                <a:latin typeface="Arial"/>
              </a:defRPr>
            </a:pPr>
            <a:r>
              <a:t>系统架构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10728655" cy="127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100" b="0">
                <a:solidFill>
                  <a:srgbClr val="6B7280"/>
                </a:solidFill>
                <a:latin typeface="Arial"/>
              </a:defRPr>
            </a:pPr>
            <a:r>
              <a:t>模块分解与依赖关系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" y="91440"/>
            <a:ext cx="4572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371600"/>
            <a:ext cx="3291840" cy="2286000"/>
          </a:xfrm>
          <a:prstGeom prst="rect">
            <a:avLst>
              <a:gd name="roundt" fmla="val 2000.0"/>
              <a:gd name="roundb" fmla="val 2000.0"/>
              <a:gd name="roundl" fmla="val 2000.0"/>
              <a:gd name="roundr" fmla="val 2000.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371600"/>
            <a:ext cx="3291840" cy="7315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55448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200" b="1">
                <a:solidFill>
                  <a:srgbClr val="1F2937"/>
                </a:solidFill>
                <a:latin typeface="Arial"/>
              </a:defRPr>
            </a:pPr>
            <a:r>
              <a:t>01  订单管理模块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920240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900" b="0">
                <a:solidFill>
                  <a:srgbClr val="6B7280"/>
                </a:solidFill>
                <a:latin typeface="Arial"/>
              </a:defRPr>
            </a:pPr>
            <a:r>
              <a:t>处理订单创建、修改、取消等操作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246119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800" b="0">
                <a:solidFill>
                  <a:srgbClr val="9CA3AF"/>
                </a:solidFill>
                <a:latin typeface="Arial"/>
              </a:defRPr>
            </a:pPr>
            <a:r>
              <a:t>依赖: 用户模块, 商品模块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80" y="1371600"/>
            <a:ext cx="3291840" cy="2286000"/>
          </a:xfrm>
          <a:prstGeom prst="rect">
            <a:avLst>
              <a:gd name="roundt" fmla="val 2000.0"/>
              <a:gd name="roundb" fmla="val 2000.0"/>
              <a:gd name="roundl" fmla="val 2000.0"/>
              <a:gd name="roundr" fmla="val 2000.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97680" y="1371600"/>
            <a:ext cx="329184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80560" y="155448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200" b="1">
                <a:solidFill>
                  <a:srgbClr val="1F2937"/>
                </a:solidFill>
                <a:latin typeface="Arial"/>
              </a:defRPr>
            </a:pPr>
            <a:r>
              <a:t>02  支付模块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1920240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900" b="0">
                <a:solidFill>
                  <a:srgbClr val="6B7280"/>
                </a:solidFill>
                <a:latin typeface="Arial"/>
              </a:defRPr>
            </a:pPr>
            <a:r>
              <a:t>集成多种支付方式，处理支付流程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3246119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800" b="0">
                <a:solidFill>
                  <a:srgbClr val="9CA3AF"/>
                </a:solidFill>
                <a:latin typeface="Arial"/>
              </a:defRPr>
            </a:pPr>
            <a:r>
              <a:t>依赖: 订单模块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863840" y="1371600"/>
            <a:ext cx="3291840" cy="2286000"/>
          </a:xfrm>
          <a:prstGeom prst="rect">
            <a:avLst>
              <a:gd name="roundt" fmla="val 2000.0"/>
              <a:gd name="roundb" fmla="val 2000.0"/>
              <a:gd name="roundl" fmla="val 2000.0"/>
              <a:gd name="roundr" fmla="val 2000.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863840" y="1371600"/>
            <a:ext cx="3291840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0" y="155448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200" b="1">
                <a:solidFill>
                  <a:srgbClr val="1F2937"/>
                </a:solidFill>
                <a:latin typeface="Arial"/>
              </a:defRPr>
            </a:pPr>
            <a:r>
              <a:t>03  库存模块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0" y="1920240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900" b="0">
                <a:solidFill>
                  <a:srgbClr val="6B7280"/>
                </a:solidFill>
                <a:latin typeface="Arial"/>
              </a:defRPr>
            </a:pPr>
            <a:r>
              <a:t>实时库存管理，库存预警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20" y="3246119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800" b="0">
                <a:solidFill>
                  <a:srgbClr val="9CA3AF"/>
                </a:solidFill>
                <a:latin typeface="Arial"/>
              </a:defRPr>
            </a:pPr>
            <a:r>
              <a:t>依赖: 商品模块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3931920"/>
            <a:ext cx="3291840" cy="2286000"/>
          </a:xfrm>
          <a:prstGeom prst="rect">
            <a:avLst>
              <a:gd name="roundt" fmla="val 2000.0"/>
              <a:gd name="roundb" fmla="val 2000.0"/>
              <a:gd name="roundl" fmla="val 2000.0"/>
              <a:gd name="roundr" fmla="val 2000.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1520" y="3931920"/>
            <a:ext cx="329184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11480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200" b="1">
                <a:solidFill>
                  <a:srgbClr val="1F2937"/>
                </a:solidFill>
                <a:latin typeface="Arial"/>
              </a:defRPr>
            </a:pPr>
            <a:r>
              <a:t>04  物流模块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4480560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900" b="0">
                <a:solidFill>
                  <a:srgbClr val="6B7280"/>
                </a:solidFill>
                <a:latin typeface="Arial"/>
              </a:defRPr>
            </a:pPr>
            <a:r>
              <a:t>订单配送追踪，物流信息同步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5806439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800" b="0">
                <a:solidFill>
                  <a:srgbClr val="9CA3AF"/>
                </a:solidFill>
                <a:latin typeface="Arial"/>
              </a:defRPr>
            </a:pPr>
            <a:r>
              <a:t>依赖: 订单模块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97680" y="3931920"/>
            <a:ext cx="3291840" cy="2286000"/>
          </a:xfrm>
          <a:prstGeom prst="rect">
            <a:avLst>
              <a:gd name="roundt" fmla="val 2000.0"/>
              <a:gd name="roundb" fmla="val 2000.0"/>
              <a:gd name="roundl" fmla="val 2000.0"/>
              <a:gd name="roundr" fmla="val 2000.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297680" y="3931920"/>
            <a:ext cx="329184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480560" y="411480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200" b="1">
                <a:solidFill>
                  <a:srgbClr val="1F2937"/>
                </a:solidFill>
                <a:latin typeface="Arial"/>
              </a:defRPr>
            </a:pPr>
            <a:r>
              <a:t>05  售后模块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80560" y="4480560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900" b="0">
                <a:solidFill>
                  <a:srgbClr val="6B7280"/>
                </a:solidFill>
                <a:latin typeface="Arial"/>
              </a:defRPr>
            </a:pPr>
            <a:r>
              <a:t>处理退换货申请，售后服务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80560" y="5806439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800" b="0">
                <a:solidFill>
                  <a:srgbClr val="9CA3AF"/>
                </a:solidFill>
                <a:latin typeface="Arial"/>
              </a:defRPr>
            </a:pPr>
            <a:r>
              <a:t>依赖: 订单模块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863840" y="3931920"/>
            <a:ext cx="3291840" cy="2286000"/>
          </a:xfrm>
          <a:prstGeom prst="rect">
            <a:avLst>
              <a:gd name="roundt" fmla="val 2000.0"/>
              <a:gd name="roundb" fmla="val 2000.0"/>
              <a:gd name="roundl" fmla="val 2000.0"/>
              <a:gd name="roundr" fmla="val 2000.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863840" y="3931920"/>
            <a:ext cx="3291840" cy="7315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046720" y="411480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200" b="1">
                <a:solidFill>
                  <a:srgbClr val="1F2937"/>
                </a:solidFill>
                <a:latin typeface="Arial"/>
              </a:defRPr>
            </a:pPr>
            <a:r>
              <a:t>06  数据分析模块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46720" y="4480560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900" b="0">
                <a:solidFill>
                  <a:srgbClr val="6B7280"/>
                </a:solidFill>
                <a:latin typeface="Arial"/>
              </a:defRPr>
            </a:pPr>
            <a:r>
              <a:t>订单数据分析，业务报表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46720" y="5806439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800" b="0">
                <a:solidFill>
                  <a:srgbClr val="9CA3AF"/>
                </a:solidFill>
                <a:latin typeface="Arial"/>
              </a:defRPr>
            </a:pPr>
            <a:r>
              <a:t>依赖: 订单模块, 库存模块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0" y="63093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  <a:defRPr sz="1800" b="1">
                <a:solidFill>
                  <a:srgbClr val="9CA3AF"/>
                </a:solidFill>
                <a:latin typeface="Consolas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2400" b="1">
                <a:solidFill>
                  <a:srgbClr val="1F2937"/>
                </a:solidFill>
                <a:latin typeface="Arial"/>
              </a:defRPr>
            </a:pPr>
            <a:r>
              <a:t>业务流程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10728655" cy="127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100" b="0">
                <a:solidFill>
                  <a:srgbClr val="6B7280"/>
                </a:solidFill>
                <a:latin typeface="Arial"/>
              </a:defRPr>
            </a:pPr>
            <a:r>
              <a:t>标准操作流程与责任人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" y="91440"/>
            <a:ext cx="4572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371600"/>
            <a:ext cx="411480" cy="4114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1444752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14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1389888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100" b="1">
                <a:solidFill>
                  <a:srgbClr val="1F2937"/>
                </a:solidFill>
                <a:latin typeface="Arial"/>
              </a:defRPr>
            </a:pPr>
            <a:r>
              <a:t>用户下单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1645920"/>
            <a:ext cx="3200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800" b="0">
                <a:solidFill>
                  <a:srgbClr val="6B7280"/>
                </a:solidFill>
                <a:latin typeface="Arial"/>
              </a:defRPr>
            </a:pPr>
            <a:r>
              <a:t>责任人: 客户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63440" y="1444752"/>
            <a:ext cx="137160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80" y="146304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800" b="1">
                <a:solidFill>
                  <a:srgbClr val="1E40AF"/>
                </a:solidFill>
                <a:latin typeface="Arial"/>
              </a:defRPr>
            </a:pPr>
            <a:r>
              <a:t>SLA: 24h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0" y="1444752"/>
            <a:ext cx="5486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800" b="0">
                <a:solidFill>
                  <a:srgbClr val="9CA3AF"/>
                </a:solidFill>
                <a:latin typeface="Arial"/>
              </a:defRPr>
            </a:pPr>
            <a:r>
              <a:t>→ 订单审核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1783080"/>
            <a:ext cx="13716" cy="27432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2057400"/>
            <a:ext cx="411480" cy="4114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8952" y="2130552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14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2075688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100" b="1">
                <a:solidFill>
                  <a:srgbClr val="1F2937"/>
                </a:solidFill>
                <a:latin typeface="Arial"/>
              </a:defRPr>
            </a:pPr>
            <a:r>
              <a:t>订单审核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2331720"/>
            <a:ext cx="3200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800" b="0">
                <a:solidFill>
                  <a:srgbClr val="6B7280"/>
                </a:solidFill>
                <a:latin typeface="Arial"/>
              </a:defRPr>
            </a:pPr>
            <a:r>
              <a:t>责任人: 审核员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63440" y="2130552"/>
            <a:ext cx="137160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54880" y="214884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800" b="1">
                <a:solidFill>
                  <a:srgbClr val="F59E0B"/>
                </a:solidFill>
                <a:latin typeface="Arial"/>
              </a:defRPr>
            </a:pPr>
            <a:r>
              <a:t>SLA: 1h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0" y="2130552"/>
            <a:ext cx="5486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800" b="0">
                <a:solidFill>
                  <a:srgbClr val="9CA3AF"/>
                </a:solidFill>
                <a:latin typeface="Arial"/>
              </a:defRPr>
            </a:pPr>
            <a:r>
              <a:t>→ 库存检查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32688" y="2468880"/>
            <a:ext cx="13716" cy="2743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1520" y="2743200"/>
            <a:ext cx="411480" cy="4114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8952" y="2816352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14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80160" y="2761488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100" b="1">
                <a:solidFill>
                  <a:srgbClr val="1F2937"/>
                </a:solidFill>
                <a:latin typeface="Arial"/>
              </a:defRPr>
            </a:pPr>
            <a:r>
              <a:t>库存检查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80160" y="3017520"/>
            <a:ext cx="3200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800" b="0">
                <a:solidFill>
                  <a:srgbClr val="6B7280"/>
                </a:solidFill>
                <a:latin typeface="Arial"/>
              </a:defRPr>
            </a:pPr>
            <a:r>
              <a:t>责任人: 系统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663440" y="2816352"/>
            <a:ext cx="137160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54880" y="283464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800" b="1">
                <a:solidFill>
                  <a:srgbClr val="3B82F6"/>
                </a:solidFill>
                <a:latin typeface="Arial"/>
              </a:defRPr>
            </a:pPr>
            <a:r>
              <a:t>SLA: 0.5h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0" y="2816352"/>
            <a:ext cx="5486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800" b="0">
                <a:solidFill>
                  <a:srgbClr val="9CA3AF"/>
                </a:solidFill>
                <a:latin typeface="Arial"/>
              </a:defRPr>
            </a:pPr>
            <a:r>
              <a:t>→ 支付处理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32688" y="3154680"/>
            <a:ext cx="13716" cy="2743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1520" y="3429000"/>
            <a:ext cx="411480" cy="4114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58952" y="3502152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1400" b="1">
                <a:solidFill>
                  <a:srgbClr val="FFFFFF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80160" y="3447288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100" b="1">
                <a:solidFill>
                  <a:srgbClr val="1F2937"/>
                </a:solidFill>
                <a:latin typeface="Arial"/>
              </a:defRPr>
            </a:pPr>
            <a:r>
              <a:t>支付处理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3703320"/>
            <a:ext cx="3200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800" b="0">
                <a:solidFill>
                  <a:srgbClr val="6B7280"/>
                </a:solidFill>
                <a:latin typeface="Arial"/>
              </a:defRPr>
            </a:pPr>
            <a:r>
              <a:t>责任人: 支付系统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663440" y="3502152"/>
            <a:ext cx="137160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754880" y="352044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800" b="1">
                <a:solidFill>
                  <a:srgbClr val="10B981"/>
                </a:solidFill>
                <a:latin typeface="Arial"/>
              </a:defRPr>
            </a:pPr>
            <a:r>
              <a:t>SLA: 0.25h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0" y="3502152"/>
            <a:ext cx="5486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800" b="0">
                <a:solidFill>
                  <a:srgbClr val="9CA3AF"/>
                </a:solidFill>
                <a:latin typeface="Arial"/>
              </a:defRPr>
            </a:pPr>
            <a:r>
              <a:t>→ 发货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32688" y="3840480"/>
            <a:ext cx="13716" cy="2743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31520" y="4114800"/>
            <a:ext cx="411480" cy="4114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58952" y="4187952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1400" b="1">
                <a:solidFill>
                  <a:srgbClr val="FFFFFF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4133088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100" b="1">
                <a:solidFill>
                  <a:srgbClr val="1F2937"/>
                </a:solidFill>
                <a:latin typeface="Arial"/>
              </a:defRPr>
            </a:pPr>
            <a:r>
              <a:t>发货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280160" y="4389120"/>
            <a:ext cx="3200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800" b="0">
                <a:solidFill>
                  <a:srgbClr val="6B7280"/>
                </a:solidFill>
                <a:latin typeface="Arial"/>
              </a:defRPr>
            </a:pPr>
            <a:r>
              <a:t>责任人: 仓库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663440" y="4187952"/>
            <a:ext cx="137160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54880" y="420624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800" b="1">
                <a:solidFill>
                  <a:srgbClr val="F59E0B"/>
                </a:solidFill>
                <a:latin typeface="Arial"/>
              </a:defRPr>
            </a:pPr>
            <a:r>
              <a:t>SLA: 4h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86400" y="4187952"/>
            <a:ext cx="5486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800" b="0">
                <a:solidFill>
                  <a:srgbClr val="9CA3AF"/>
                </a:solidFill>
                <a:latin typeface="Arial"/>
              </a:defRPr>
            </a:pPr>
            <a:r>
              <a:t>→ 配送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32688" y="4526280"/>
            <a:ext cx="13716" cy="2743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31520" y="4800600"/>
            <a:ext cx="411480" cy="41148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58952" y="4873752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1400" b="1">
                <a:solidFill>
                  <a:srgbClr val="FFFFFF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280160" y="4818888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100" b="1">
                <a:solidFill>
                  <a:srgbClr val="1F2937"/>
                </a:solidFill>
                <a:latin typeface="Arial"/>
              </a:defRPr>
            </a:pPr>
            <a:r>
              <a:t>配送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280160" y="5074920"/>
            <a:ext cx="3200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800" b="0">
                <a:solidFill>
                  <a:srgbClr val="6B7280"/>
                </a:solidFill>
                <a:latin typeface="Arial"/>
              </a:defRPr>
            </a:pPr>
            <a:r>
              <a:t>责任人: 物流商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663440" y="4873752"/>
            <a:ext cx="137160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754880" y="489204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800" b="1">
                <a:solidFill>
                  <a:srgbClr val="EF4444"/>
                </a:solidFill>
                <a:latin typeface="Arial"/>
              </a:defRPr>
            </a:pPr>
            <a:r>
              <a:t>SLA: 48h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86400" y="4873752"/>
            <a:ext cx="5486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800" b="0">
                <a:solidFill>
                  <a:srgbClr val="9CA3AF"/>
                </a:solidFill>
                <a:latin typeface="Arial"/>
              </a:defRPr>
            </a:pPr>
            <a:r>
              <a:t>→ 签收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32688" y="5212080"/>
            <a:ext cx="13716" cy="2743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31520" y="5486400"/>
            <a:ext cx="411480" cy="4114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58952" y="5559552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1400" b="1">
                <a:solidFill>
                  <a:srgbClr val="FFFFFF"/>
                </a:solidFill>
                <a:latin typeface="Arial"/>
              </a:defRPr>
            </a:pPr>
            <a:r>
              <a:t>7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280160" y="5504688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100" b="1">
                <a:solidFill>
                  <a:srgbClr val="1F2937"/>
                </a:solidFill>
                <a:latin typeface="Arial"/>
              </a:defRPr>
            </a:pPr>
            <a:r>
              <a:t>签收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280160" y="5760720"/>
            <a:ext cx="3200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800" b="0">
                <a:solidFill>
                  <a:srgbClr val="6B7280"/>
                </a:solidFill>
                <a:latin typeface="Arial"/>
              </a:defRPr>
            </a:pPr>
            <a:r>
              <a:t>责任人: 客户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663440" y="5559552"/>
            <a:ext cx="137160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754880" y="557784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800" b="1">
                <a:solidFill>
                  <a:srgbClr val="1E40AF"/>
                </a:solidFill>
                <a:latin typeface="Arial"/>
              </a:defRPr>
            </a:pPr>
            <a:r>
              <a:t>SLA: 72h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486400" y="5559552"/>
            <a:ext cx="5486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800" b="0">
                <a:solidFill>
                  <a:srgbClr val="9CA3AF"/>
                </a:solidFill>
                <a:latin typeface="Arial"/>
              </a:defRPr>
            </a:pPr>
            <a:r>
              <a:t>→ 完成</a:t>
            </a:r>
          </a:p>
        </p:txBody>
      </p:sp>
      <p:sp>
        <p:nvSpPr>
          <p:cNvPr id="63" name="Rectangle 62"/>
          <p:cNvSpPr/>
          <p:nvPr/>
        </p:nvSpPr>
        <p:spPr>
          <a:xfrm>
            <a:off x="932688" y="5897880"/>
            <a:ext cx="13716" cy="27432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31520" y="6172200"/>
            <a:ext cx="411480" cy="4114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58952" y="6245352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1400" b="1">
                <a:solidFill>
                  <a:srgbClr val="FFFFFF"/>
                </a:solidFill>
                <a:latin typeface="Arial"/>
              </a:defRPr>
            </a:pPr>
            <a:r>
              <a:t>8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280160" y="6190488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100" b="1">
                <a:solidFill>
                  <a:srgbClr val="1F2937"/>
                </a:solidFill>
                <a:latin typeface="Arial"/>
              </a:defRPr>
            </a:pPr>
            <a:r>
              <a:t>完成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280160" y="6446520"/>
            <a:ext cx="3200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800" b="0">
                <a:solidFill>
                  <a:srgbClr val="6B7280"/>
                </a:solidFill>
                <a:latin typeface="Arial"/>
              </a:defRPr>
            </a:pPr>
            <a:r>
              <a:t>责任人: 系统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486400" y="6245352"/>
            <a:ext cx="5486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800" b="0">
                <a:solidFill>
                  <a:srgbClr val="9CA3AF"/>
                </a:solidFill>
                <a:latin typeface="Arial"/>
              </a:defRPr>
            </a:pPr>
            <a:r>
              <a:t>→ 完成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972800" y="63093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  <a:defRPr sz="1800" b="1">
                <a:solidFill>
                  <a:srgbClr val="9CA3AF"/>
                </a:solidFill>
                <a:latin typeface="Consolas"/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2400" b="1">
                <a:solidFill>
                  <a:srgbClr val="1F2937"/>
                </a:solidFill>
                <a:latin typeface="Arial"/>
              </a:defRPr>
            </a:pPr>
            <a:r>
              <a:t>关键指标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10728655" cy="127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100" b="0">
                <a:solidFill>
                  <a:srgbClr val="6B7280"/>
                </a:solidFill>
                <a:latin typeface="Arial"/>
              </a:defRPr>
            </a:pPr>
            <a:r>
              <a:t>可量化指标与目标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" y="91440"/>
            <a:ext cx="4572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371600"/>
            <a:ext cx="2286000" cy="960120"/>
          </a:xfrm>
          <a:prstGeom prst="rect">
            <a:avLst>
              <a:gd name="roundt" fmla="val 1000.0"/>
              <a:gd name="roundb" fmla="val 1000.0"/>
              <a:gd name="roundl" fmla="val 1000.0"/>
              <a:gd name="roundr" fmla="val 1000.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1463040"/>
            <a:ext cx="2066543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800" b="0">
                <a:solidFill>
                  <a:srgbClr val="6B7280"/>
                </a:solidFill>
                <a:latin typeface="Arial"/>
              </a:defRPr>
            </a:pPr>
            <a:r>
              <a:t>订单处理时长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1691640"/>
            <a:ext cx="2066543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2000" b="1">
                <a:solidFill>
                  <a:srgbClr val="1E40AF"/>
                </a:solidFill>
                <a:latin typeface="Arial"/>
              </a:defRPr>
            </a:pPr>
            <a:r>
              <a:t>2小时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6120" y="1371600"/>
            <a:ext cx="2286000" cy="960120"/>
          </a:xfrm>
          <a:prstGeom prst="rect">
            <a:avLst>
              <a:gd name="roundt" fmla="val 1000.0"/>
              <a:gd name="roundb" fmla="val 1000.0"/>
              <a:gd name="roundl" fmla="val 1000.0"/>
              <a:gd name="roundr" fmla="val 1000.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55848" y="1463040"/>
            <a:ext cx="2066543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800" b="0">
                <a:solidFill>
                  <a:srgbClr val="6B7280"/>
                </a:solidFill>
                <a:latin typeface="Arial"/>
              </a:defRPr>
            </a:pPr>
            <a:r>
              <a:t>订单准确率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55848" y="1691640"/>
            <a:ext cx="2066543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2000" b="1">
                <a:solidFill>
                  <a:srgbClr val="F59E0B"/>
                </a:solidFill>
                <a:latin typeface="Arial"/>
              </a:defRPr>
            </a:pPr>
            <a:r>
              <a:t>99.5%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60720" y="1371600"/>
            <a:ext cx="2286000" cy="960120"/>
          </a:xfrm>
          <a:prstGeom prst="rect">
            <a:avLst>
              <a:gd name="roundt" fmla="val 1000.0"/>
              <a:gd name="roundb" fmla="val 1000.0"/>
              <a:gd name="roundl" fmla="val 1000.0"/>
              <a:gd name="roundr" fmla="val 1000.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70448" y="1463040"/>
            <a:ext cx="2066543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800" b="0">
                <a:solidFill>
                  <a:srgbClr val="6B7280"/>
                </a:solidFill>
                <a:latin typeface="Arial"/>
              </a:defRPr>
            </a:pPr>
            <a:r>
              <a:t>库存周转率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70448" y="1691640"/>
            <a:ext cx="2066543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2000" b="1">
                <a:solidFill>
                  <a:srgbClr val="3B82F6"/>
                </a:solidFill>
                <a:latin typeface="Arial"/>
              </a:defRPr>
            </a:pPr>
            <a:r>
              <a:t>8次/月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75320" y="1371600"/>
            <a:ext cx="2286000" cy="960120"/>
          </a:xfrm>
          <a:prstGeom prst="rect">
            <a:avLst>
              <a:gd name="roundt" fmla="val 1000.0"/>
              <a:gd name="roundb" fmla="val 1000.0"/>
              <a:gd name="roundl" fmla="val 1000.0"/>
              <a:gd name="roundr" fmla="val 1000.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85048" y="1463040"/>
            <a:ext cx="2066543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800" b="0">
                <a:solidFill>
                  <a:srgbClr val="6B7280"/>
                </a:solidFill>
                <a:latin typeface="Arial"/>
              </a:defRPr>
            </a:pPr>
            <a:r>
              <a:t>客户满意度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85048" y="1691640"/>
            <a:ext cx="2066543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2000" b="1">
                <a:solidFill>
                  <a:srgbClr val="10B981"/>
                </a:solidFill>
                <a:latin typeface="Arial"/>
              </a:defRPr>
            </a:pPr>
            <a:r>
              <a:t>95%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2468880"/>
            <a:ext cx="2286000" cy="960120"/>
          </a:xfrm>
          <a:prstGeom prst="rect">
            <a:avLst>
              <a:gd name="roundt" fmla="val 1000.0"/>
              <a:gd name="roundb" fmla="val 1000.0"/>
              <a:gd name="roundl" fmla="val 1000.0"/>
              <a:gd name="roundr" fmla="val 1000.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" y="2560320"/>
            <a:ext cx="2066543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800" b="0">
                <a:solidFill>
                  <a:srgbClr val="6B7280"/>
                </a:solidFill>
                <a:latin typeface="Arial"/>
              </a:defRPr>
            </a:pPr>
            <a:r>
              <a:t>退货率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" y="2788920"/>
            <a:ext cx="2066543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2000" b="1">
                <a:solidFill>
                  <a:srgbClr val="1E40AF"/>
                </a:solidFill>
                <a:latin typeface="Arial"/>
              </a:defRPr>
            </a:pPr>
            <a:r>
              <a:t>&lt;3%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46120" y="2468880"/>
            <a:ext cx="2286000" cy="960120"/>
          </a:xfrm>
          <a:prstGeom prst="rect">
            <a:avLst>
              <a:gd name="roundt" fmla="val 1000.0"/>
              <a:gd name="roundb" fmla="val 1000.0"/>
              <a:gd name="roundl" fmla="val 1000.0"/>
              <a:gd name="roundr" fmla="val 1000.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355848" y="2560320"/>
            <a:ext cx="2066543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800" b="0">
                <a:solidFill>
                  <a:srgbClr val="6B7280"/>
                </a:solidFill>
                <a:latin typeface="Arial"/>
              </a:defRPr>
            </a:pPr>
            <a:r>
              <a:t>支付成功率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55848" y="2788920"/>
            <a:ext cx="2066543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2000" b="1">
                <a:solidFill>
                  <a:srgbClr val="F59E0B"/>
                </a:solidFill>
                <a:latin typeface="Arial"/>
              </a:defRPr>
            </a:pPr>
            <a:r>
              <a:t>99%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0" y="63093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  <a:defRPr sz="1800" b="1">
                <a:solidFill>
                  <a:srgbClr val="9CA3AF"/>
                </a:solidFill>
                <a:latin typeface="Consolas"/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2400" b="1">
                <a:solidFill>
                  <a:srgbClr val="1F2937"/>
                </a:solidFill>
                <a:latin typeface="Arial"/>
              </a:defRPr>
            </a:pPr>
            <a:r>
              <a:t>风险评估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10728655" cy="127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100" b="0">
                <a:solidFill>
                  <a:srgbClr val="6B7280"/>
                </a:solidFill>
                <a:latin typeface="Arial"/>
              </a:defRPr>
            </a:pPr>
            <a:r>
              <a:t>风险矩阵与应对策略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" y="91440"/>
            <a:ext cx="4572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371600"/>
            <a:ext cx="3291840" cy="2286000"/>
          </a:xfrm>
          <a:prstGeom prst="rect">
            <a:avLst>
              <a:gd name="roundt" fmla="val 1500.0"/>
              <a:gd name="roundb" fmla="val 1500.0"/>
              <a:gd name="roundl" fmla="val 1500.0"/>
              <a:gd name="roundr" fmla="val 1500.0"/>
            </a:avLst>
          </a:prstGeom>
          <a:solidFill>
            <a:srgbClr val="FFFFFF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371600"/>
            <a:ext cx="3291840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508760"/>
            <a:ext cx="3017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000" b="1">
                <a:solidFill>
                  <a:srgbClr val="1F2937"/>
                </a:solidFill>
                <a:latin typeface="Arial"/>
              </a:defRPr>
            </a:pPr>
            <a:r>
              <a:t>[CRITICAL] 库存不足导致超卖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182880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800" b="0">
                <a:solidFill>
                  <a:srgbClr val="6B7280"/>
                </a:solidFill>
                <a:latin typeface="Arial"/>
              </a:defRPr>
            </a:pPr>
            <a:r>
              <a:t>高并发场景下库存扣减不一致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" y="2514600"/>
            <a:ext cx="3017520" cy="27432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68680" y="2514600"/>
            <a:ext cx="2715768" cy="2743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2606040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800" b="0">
                <a:solidFill>
                  <a:srgbClr val="EF4444"/>
                </a:solidFill>
                <a:latin typeface="Arial"/>
              </a:defRPr>
            </a:pPr>
            <a:r>
              <a:t>风险评分: 9/10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288036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700" b="0">
                <a:solidFill>
                  <a:srgbClr val="9CA3AF"/>
                </a:solidFill>
                <a:latin typeface="Arial"/>
              </a:defRPr>
            </a:pPr>
            <a:r>
              <a:t>应对: 使用分布式锁，预扣库存机制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97680" y="1371600"/>
            <a:ext cx="3291840" cy="2286000"/>
          </a:xfrm>
          <a:prstGeom prst="rect">
            <a:avLst>
              <a:gd name="roundt" fmla="val 1500.0"/>
              <a:gd name="roundb" fmla="val 1500.0"/>
              <a:gd name="roundl" fmla="val 1500.0"/>
              <a:gd name="roundr" fmla="val 1500.0"/>
            </a:avLst>
          </a:prstGeom>
          <a:solidFill>
            <a:srgbClr val="FFFFF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97680" y="1371600"/>
            <a:ext cx="329184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34840" y="1508760"/>
            <a:ext cx="3017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000" b="1">
                <a:solidFill>
                  <a:srgbClr val="1F2937"/>
                </a:solidFill>
                <a:latin typeface="Arial"/>
              </a:defRPr>
            </a:pPr>
            <a:r>
              <a:t>[HIGH] 支付超时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34840" y="182880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800" b="0">
                <a:solidFill>
                  <a:srgbClr val="6B7280"/>
                </a:solidFill>
                <a:latin typeface="Arial"/>
              </a:defRPr>
            </a:pPr>
            <a:r>
              <a:t>第三方支付接口响应慢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434840" y="2514600"/>
            <a:ext cx="3017520" cy="27432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434840" y="2514600"/>
            <a:ext cx="2112263" cy="274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34840" y="2606040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800" b="0">
                <a:solidFill>
                  <a:srgbClr val="F59E0B"/>
                </a:solidFill>
                <a:latin typeface="Arial"/>
              </a:defRPr>
            </a:pPr>
            <a:r>
              <a:t>风险评分: 7/10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34840" y="288036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700" b="0">
                <a:solidFill>
                  <a:srgbClr val="9CA3AF"/>
                </a:solidFill>
                <a:latin typeface="Arial"/>
              </a:defRPr>
            </a:pPr>
            <a:r>
              <a:t>应对: 异步处理，超时重试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863840" y="1371600"/>
            <a:ext cx="3291840" cy="2286000"/>
          </a:xfrm>
          <a:prstGeom prst="rect">
            <a:avLst>
              <a:gd name="roundt" fmla="val 1500.0"/>
              <a:gd name="roundb" fmla="val 1500.0"/>
              <a:gd name="roundl" fmla="val 1500.0"/>
              <a:gd name="roundr" fmla="val 1500.0"/>
            </a:avLst>
          </a:prstGeom>
          <a:solidFill>
            <a:srgbClr val="FFFFFF"/>
          </a:solidFill>
          <a:ln w="1905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863840" y="1371600"/>
            <a:ext cx="3291840" cy="54864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01000" y="1508760"/>
            <a:ext cx="3017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000" b="1">
                <a:solidFill>
                  <a:srgbClr val="1F2937"/>
                </a:solidFill>
                <a:latin typeface="Arial"/>
              </a:defRPr>
            </a:pPr>
            <a:r>
              <a:t>[MEDIUM] 物流信息延迟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01000" y="182880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800" b="0">
                <a:solidFill>
                  <a:srgbClr val="6B7280"/>
                </a:solidFill>
                <a:latin typeface="Arial"/>
              </a:defRPr>
            </a:pPr>
            <a:r>
              <a:t>物流商数据同步延迟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001000" y="2514600"/>
            <a:ext cx="3017520" cy="27432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001000" y="2514600"/>
            <a:ext cx="1508760" cy="2743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1000" y="2606040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800" b="0">
                <a:solidFill>
                  <a:srgbClr val="1E40AF"/>
                </a:solidFill>
                <a:latin typeface="Arial"/>
              </a:defRPr>
            </a:pPr>
            <a:r>
              <a:t>风险评分: 5/10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01000" y="288036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700" b="0">
                <a:solidFill>
                  <a:srgbClr val="9CA3AF"/>
                </a:solidFill>
                <a:latin typeface="Arial"/>
              </a:defRPr>
            </a:pPr>
            <a:r>
              <a:t>应对: 定时拉取，增量更新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31520" y="3931920"/>
            <a:ext cx="3291840" cy="2286000"/>
          </a:xfrm>
          <a:prstGeom prst="rect">
            <a:avLst>
              <a:gd name="roundt" fmla="val 1500.0"/>
              <a:gd name="roundb" fmla="val 1500.0"/>
              <a:gd name="roundl" fmla="val 1500.0"/>
              <a:gd name="roundr" fmla="val 1500.0"/>
            </a:avLst>
          </a:prstGeom>
          <a:solidFill>
            <a:srgbClr val="FFFFF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31520" y="3931920"/>
            <a:ext cx="329184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68680" y="4069080"/>
            <a:ext cx="3017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000" b="1">
                <a:solidFill>
                  <a:srgbClr val="1F2937"/>
                </a:solidFill>
                <a:latin typeface="Arial"/>
              </a:defRPr>
            </a:pPr>
            <a:r>
              <a:t>[HIGH] 订单数据一致性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" y="438912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800" b="0">
                <a:solidFill>
                  <a:srgbClr val="6B7280"/>
                </a:solidFill>
                <a:latin typeface="Arial"/>
              </a:defRPr>
            </a:pPr>
            <a:r>
              <a:t>多渠道订单数据不一致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68680" y="5074920"/>
            <a:ext cx="3017520" cy="27432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68680" y="5074920"/>
            <a:ext cx="2414016" cy="274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8680" y="5166360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800" b="0">
                <a:solidFill>
                  <a:srgbClr val="F59E0B"/>
                </a:solidFill>
                <a:latin typeface="Arial"/>
              </a:defRPr>
            </a:pPr>
            <a:r>
              <a:t>风险评分: 8/10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68680" y="544068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700" b="0">
                <a:solidFill>
                  <a:srgbClr val="9CA3AF"/>
                </a:solidFill>
                <a:latin typeface="Arial"/>
              </a:defRPr>
            </a:pPr>
            <a:r>
              <a:t>应对: 统一数据中台，实时同步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297680" y="3931920"/>
            <a:ext cx="3291840" cy="2286000"/>
          </a:xfrm>
          <a:prstGeom prst="rect">
            <a:avLst>
              <a:gd name="roundt" fmla="val 1500.0"/>
              <a:gd name="roundb" fmla="val 1500.0"/>
              <a:gd name="roundl" fmla="val 1500.0"/>
              <a:gd name="roundr" fmla="val 1500.0"/>
            </a:avLst>
          </a:prstGeom>
          <a:solidFill>
            <a:srgbClr val="FFFFFF"/>
          </a:solidFill>
          <a:ln w="1905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297680" y="3931920"/>
            <a:ext cx="3291840" cy="54864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434840" y="4069080"/>
            <a:ext cx="3017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000" b="1">
                <a:solidFill>
                  <a:srgbClr val="1F2937"/>
                </a:solidFill>
                <a:latin typeface="Arial"/>
              </a:defRPr>
            </a:pPr>
            <a:r>
              <a:t>[MEDIUM] 系统性能瓶颈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434840" y="438912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800" b="0">
                <a:solidFill>
                  <a:srgbClr val="6B7280"/>
                </a:solidFill>
                <a:latin typeface="Arial"/>
              </a:defRPr>
            </a:pPr>
            <a:r>
              <a:t>大促期间系统响应慢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434840" y="5074920"/>
            <a:ext cx="3017520" cy="27432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434840" y="5074920"/>
            <a:ext cx="1810511" cy="2743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434840" y="5166360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800" b="0">
                <a:solidFill>
                  <a:srgbClr val="1E40AF"/>
                </a:solidFill>
                <a:latin typeface="Arial"/>
              </a:defRPr>
            </a:pPr>
            <a:r>
              <a:t>风险评分: 6/10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434840" y="544068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700" b="0">
                <a:solidFill>
                  <a:srgbClr val="9CA3AF"/>
                </a:solidFill>
                <a:latin typeface="Arial"/>
              </a:defRPr>
            </a:pPr>
            <a:r>
              <a:t>应对: 缓存策略，水平扩展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863840" y="3931920"/>
            <a:ext cx="3291840" cy="2286000"/>
          </a:xfrm>
          <a:prstGeom prst="rect">
            <a:avLst>
              <a:gd name="roundt" fmla="val 1500.0"/>
              <a:gd name="roundb" fmla="val 1500.0"/>
              <a:gd name="roundl" fmla="val 1500.0"/>
              <a:gd name="roundr" fmla="val 1500.0"/>
            </a:avLst>
          </a:prstGeom>
          <a:solidFill>
            <a:srgbClr val="FFFFFF"/>
          </a:solidFill>
          <a:ln w="1905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7863840" y="3931920"/>
            <a:ext cx="3291840" cy="54864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001000" y="4069080"/>
            <a:ext cx="3017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000" b="1">
                <a:solidFill>
                  <a:srgbClr val="1F2937"/>
                </a:solidFill>
                <a:latin typeface="Arial"/>
              </a:defRPr>
            </a:pPr>
            <a:r>
              <a:t>[MEDIUM] 安全风险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001000" y="438912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800" b="0">
                <a:solidFill>
                  <a:srgbClr val="6B7280"/>
                </a:solidFill>
                <a:latin typeface="Arial"/>
              </a:defRPr>
            </a:pPr>
            <a:r>
              <a:t>订单数据泄露风险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001000" y="5074920"/>
            <a:ext cx="3017520" cy="27432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8001000" y="5074920"/>
            <a:ext cx="1508760" cy="2743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001000" y="5166360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800" b="0">
                <a:solidFill>
                  <a:srgbClr val="1E40AF"/>
                </a:solidFill>
                <a:latin typeface="Arial"/>
              </a:defRPr>
            </a:pPr>
            <a:r>
              <a:t>风险评分: 5/10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001000" y="544068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700" b="0">
                <a:solidFill>
                  <a:srgbClr val="9CA3AF"/>
                </a:solidFill>
                <a:latin typeface="Arial"/>
              </a:defRPr>
            </a:pPr>
            <a:r>
              <a:t>应对: 数据加密，访问控制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972800" y="63093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  <a:defRPr sz="1800" b="1">
                <a:solidFill>
                  <a:srgbClr val="9CA3AF"/>
                </a:solidFill>
                <a:latin typeface="Consolas"/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2400" b="1">
                <a:solidFill>
                  <a:srgbClr val="1F2937"/>
                </a:solidFill>
                <a:latin typeface="Arial"/>
              </a:defRPr>
            </a:pPr>
            <a:r>
              <a:t>投资回报分析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10728655" cy="127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100" b="0">
                <a:solidFill>
                  <a:srgbClr val="6B7280"/>
                </a:solidFill>
                <a:latin typeface="Arial"/>
              </a:defRPr>
            </a:pPr>
            <a:r>
              <a:t>预期效益与成本节约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" y="91440"/>
            <a:ext cx="4572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371600"/>
            <a:ext cx="2377440" cy="1645920"/>
          </a:xfrm>
          <a:prstGeom prst="rect">
            <a:avLst>
              <a:gd name="roundt" fmla="val 1500.0"/>
              <a:gd name="roundb" fmla="val 1500.0"/>
              <a:gd name="roundl" fmla="val 1500.0"/>
              <a:gd name="roundr" fmla="val 1500.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371600"/>
            <a:ext cx="237744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1463040"/>
            <a:ext cx="215798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900" b="0">
                <a:solidFill>
                  <a:srgbClr val="6B7280"/>
                </a:solidFill>
                <a:latin typeface="Arial"/>
              </a:defRPr>
            </a:pPr>
            <a:r>
              <a:t>引入分布式锁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1737360"/>
            <a:ext cx="215798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800" b="1">
                <a:solidFill>
                  <a:srgbClr val="10B981"/>
                </a:solidFill>
                <a:latin typeface="Arial"/>
              </a:defRPr>
            </a:pPr>
            <a:r>
              <a:t>¥30万/年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2240280"/>
            <a:ext cx="215798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800" b="0">
                <a:solidFill>
                  <a:srgbClr val="9CA3AF"/>
                </a:solidFill>
                <a:latin typeface="Arial"/>
              </a:defRPr>
            </a:pPr>
            <a:r>
              <a:t>投入 ¥5.0万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37560" y="1371600"/>
            <a:ext cx="2377440" cy="1645920"/>
          </a:xfrm>
          <a:prstGeom prst="rect">
            <a:avLst>
              <a:gd name="roundt" fmla="val 1500.0"/>
              <a:gd name="roundb" fmla="val 1500.0"/>
              <a:gd name="roundl" fmla="val 1500.0"/>
              <a:gd name="roundr" fmla="val 1500.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37560" y="1371600"/>
            <a:ext cx="2377440" cy="36576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47288" y="1463040"/>
            <a:ext cx="215798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900" b="0">
                <a:solidFill>
                  <a:srgbClr val="6B7280"/>
                </a:solidFill>
                <a:latin typeface="Arial"/>
              </a:defRPr>
            </a:pPr>
            <a:r>
              <a:t>异步支付处理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47288" y="1737360"/>
            <a:ext cx="215798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800" b="1">
                <a:solidFill>
                  <a:srgbClr val="1E40AF"/>
                </a:solidFill>
                <a:latin typeface="Arial"/>
              </a:defRPr>
            </a:pPr>
            <a:r>
              <a:t>¥20万/年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47288" y="2240280"/>
            <a:ext cx="215798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800" b="0">
                <a:solidFill>
                  <a:srgbClr val="9CA3AF"/>
                </a:solidFill>
                <a:latin typeface="Arial"/>
              </a:defRPr>
            </a:pPr>
            <a:r>
              <a:t>投入 ¥3.0万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0" y="1371600"/>
            <a:ext cx="2377440" cy="1645920"/>
          </a:xfrm>
          <a:prstGeom prst="rect">
            <a:avLst>
              <a:gd name="roundt" fmla="val 1500.0"/>
              <a:gd name="roundb" fmla="val 1500.0"/>
              <a:gd name="roundl" fmla="val 1500.0"/>
              <a:gd name="roundr" fmla="val 1500.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943600" y="1371600"/>
            <a:ext cx="237744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53328" y="1463040"/>
            <a:ext cx="215798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900" b="0">
                <a:solidFill>
                  <a:srgbClr val="6B7280"/>
                </a:solidFill>
                <a:latin typeface="Arial"/>
              </a:defRPr>
            </a:pPr>
            <a:r>
              <a:t>智能库存预警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53328" y="1737360"/>
            <a:ext cx="215798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800" b="1">
                <a:solidFill>
                  <a:srgbClr val="F59E0B"/>
                </a:solidFill>
                <a:latin typeface="Arial"/>
              </a:defRPr>
            </a:pPr>
            <a:r>
              <a:t>¥25万/年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53328" y="2240280"/>
            <a:ext cx="215798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800" b="0">
                <a:solidFill>
                  <a:srgbClr val="9CA3AF"/>
                </a:solidFill>
                <a:latin typeface="Arial"/>
              </a:defRPr>
            </a:pPr>
            <a:r>
              <a:t>投入 ¥4.0万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549640" y="1371600"/>
            <a:ext cx="2377440" cy="1645920"/>
          </a:xfrm>
          <a:prstGeom prst="rect">
            <a:avLst>
              <a:gd name="roundt" fmla="val 1500.0"/>
              <a:gd name="roundb" fmla="val 1500.0"/>
              <a:gd name="roundl" fmla="val 1500.0"/>
              <a:gd name="roundr" fmla="val 1500.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549640" y="1371600"/>
            <a:ext cx="237744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59368" y="1463040"/>
            <a:ext cx="215798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900" b="0">
                <a:solidFill>
                  <a:srgbClr val="6B7280"/>
                </a:solidFill>
                <a:latin typeface="Arial"/>
              </a:defRPr>
            </a:pPr>
            <a:r>
              <a:t>实时数据同步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59368" y="1737360"/>
            <a:ext cx="215798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800" b="1">
                <a:solidFill>
                  <a:srgbClr val="3B82F6"/>
                </a:solidFill>
                <a:latin typeface="Arial"/>
              </a:defRPr>
            </a:pPr>
            <a:r>
              <a:t>¥35万/年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59368" y="2240280"/>
            <a:ext cx="215798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800" b="0">
                <a:solidFill>
                  <a:srgbClr val="9CA3AF"/>
                </a:solidFill>
                <a:latin typeface="Arial"/>
              </a:defRPr>
            </a:pPr>
            <a:r>
              <a:t>投入 ¥6.0万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1520" y="3291840"/>
            <a:ext cx="10728655" cy="2560320"/>
          </a:xfrm>
          <a:prstGeom prst="rect">
            <a:avLst>
              <a:gd name="roundt" fmla="val 1500.0"/>
              <a:gd name="roundb" fmla="val 1500.0"/>
              <a:gd name="roundl" fmla="val 1500.0"/>
              <a:gd name="roundr" fmla="val 1500.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338328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200" b="1">
                <a:solidFill>
                  <a:srgbClr val="1E40AF"/>
                </a:solidFill>
                <a:latin typeface="Arial"/>
              </a:defRPr>
            </a:pPr>
            <a:r>
              <a:t>年度预期效益对比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3749039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900" b="1">
                <a:solidFill>
                  <a:srgbClr val="1F2937"/>
                </a:solidFill>
                <a:latin typeface="Arial"/>
              </a:defRPr>
            </a:pPr>
            <a:r>
              <a:t>指标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00400" y="3749039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900" b="1">
                <a:solidFill>
                  <a:srgbClr val="1F2937"/>
                </a:solidFill>
                <a:latin typeface="Arial"/>
              </a:defRPr>
            </a:pPr>
            <a:r>
              <a:t>当前状态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80" y="3749039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900" b="1">
                <a:solidFill>
                  <a:srgbClr val="1F2937"/>
                </a:solidFill>
                <a:latin typeface="Arial"/>
              </a:defRPr>
            </a:pPr>
            <a:r>
              <a:t>目标状态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23760" y="3749039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900" b="1">
                <a:solidFill>
                  <a:srgbClr val="1F2937"/>
                </a:solidFill>
                <a:latin typeface="Arial"/>
              </a:defRPr>
            </a:pPr>
            <a:r>
              <a:t>改善幅度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14400" y="4005071"/>
            <a:ext cx="10362895" cy="4572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" y="4069079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900" b="0">
                <a:solidFill>
                  <a:srgbClr val="6B7280"/>
                </a:solidFill>
                <a:latin typeface="Arial"/>
              </a:defRPr>
            </a:pPr>
            <a:r>
              <a:t>处理时长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200400" y="4069079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900" b="0">
                <a:solidFill>
                  <a:srgbClr val="6B7280"/>
                </a:solidFill>
                <a:latin typeface="Arial"/>
              </a:defRPr>
            </a:pPr>
            <a:r>
              <a:t>4.2小时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212080" y="4069079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900" b="0">
                <a:solidFill>
                  <a:srgbClr val="6B7280"/>
                </a:solidFill>
                <a:latin typeface="Arial"/>
              </a:defRPr>
            </a:pPr>
            <a:r>
              <a:t>1.8小时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223760" y="4069079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900" b="0">
                <a:solidFill>
                  <a:srgbClr val="10B981"/>
                </a:solidFill>
                <a:latin typeface="Arial"/>
              </a:defRPr>
            </a:pPr>
            <a:r>
              <a:t>-57%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14400" y="4325111"/>
            <a:ext cx="10362895" cy="4572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4400" y="4389119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900" b="0">
                <a:solidFill>
                  <a:srgbClr val="6B7280"/>
                </a:solidFill>
                <a:latin typeface="Arial"/>
              </a:defRPr>
            </a:pPr>
            <a:r>
              <a:t>人工审核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200400" y="4389119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900" b="0">
                <a:solidFill>
                  <a:srgbClr val="6B7280"/>
                </a:solidFill>
                <a:latin typeface="Arial"/>
              </a:defRPr>
            </a:pPr>
            <a:r>
              <a:t>100%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212080" y="4389119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900" b="0">
                <a:solidFill>
                  <a:srgbClr val="6B7280"/>
                </a:solidFill>
                <a:latin typeface="Arial"/>
              </a:defRPr>
            </a:pPr>
            <a:r>
              <a:t>40%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223760" y="4389119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900" b="0">
                <a:solidFill>
                  <a:srgbClr val="10B981"/>
                </a:solidFill>
                <a:latin typeface="Arial"/>
              </a:defRPr>
            </a:pPr>
            <a:r>
              <a:t>-60%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14400" y="4645151"/>
            <a:ext cx="10362895" cy="4572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14400" y="4709159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900" b="0">
                <a:solidFill>
                  <a:srgbClr val="6B7280"/>
                </a:solidFill>
                <a:latin typeface="Arial"/>
              </a:defRPr>
            </a:pPr>
            <a:r>
              <a:t>错误率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200400" y="4709159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900" b="0">
                <a:solidFill>
                  <a:srgbClr val="6B7280"/>
                </a:solidFill>
                <a:latin typeface="Arial"/>
              </a:defRPr>
            </a:pPr>
            <a:r>
              <a:t>3.2%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212080" y="4709159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900" b="0">
                <a:solidFill>
                  <a:srgbClr val="6B7280"/>
                </a:solidFill>
                <a:latin typeface="Arial"/>
              </a:defRPr>
            </a:pPr>
            <a:r>
              <a:t>1.1%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223760" y="4709159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900" b="0">
                <a:solidFill>
                  <a:srgbClr val="10B981"/>
                </a:solidFill>
                <a:latin typeface="Arial"/>
              </a:defRPr>
            </a:pPr>
            <a:r>
              <a:t>-65%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14400" y="4965191"/>
            <a:ext cx="10362895" cy="4572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14400" y="5029199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900" b="0">
                <a:solidFill>
                  <a:srgbClr val="6B7280"/>
                </a:solidFill>
                <a:latin typeface="Arial"/>
              </a:defRPr>
            </a:pPr>
            <a:r>
              <a:t>人员利用率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200400" y="5029199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900" b="0">
                <a:solidFill>
                  <a:srgbClr val="6B7280"/>
                </a:solidFill>
                <a:latin typeface="Arial"/>
              </a:defRPr>
            </a:pPr>
            <a:r>
              <a:t>68%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212080" y="5029199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900" b="0">
                <a:solidFill>
                  <a:srgbClr val="6B7280"/>
                </a:solidFill>
                <a:latin typeface="Arial"/>
              </a:defRPr>
            </a:pPr>
            <a:r>
              <a:t>92%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223760" y="5029199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900" b="0">
                <a:solidFill>
                  <a:srgbClr val="10B981"/>
                </a:solidFill>
                <a:latin typeface="Arial"/>
              </a:defRPr>
            </a:pPr>
            <a:r>
              <a:t>+24%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972800" y="63093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  <a:defRPr sz="1800" b="1">
                <a:solidFill>
                  <a:srgbClr val="9CA3AF"/>
                </a:solidFill>
                <a:latin typeface="Consolas"/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2400" b="1">
                <a:solidFill>
                  <a:srgbClr val="1F2937"/>
                </a:solidFill>
                <a:latin typeface="Arial"/>
              </a:defRPr>
            </a:pPr>
            <a:r>
              <a:t>实施路线图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10728655" cy="127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100" b="0">
                <a:solidFill>
                  <a:srgbClr val="6B7280"/>
                </a:solidFill>
                <a:latin typeface="Arial"/>
              </a:defRPr>
            </a:pPr>
            <a:r>
              <a:t>分阶段交付计划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" y="91440"/>
            <a:ext cx="4572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554480" y="1371600"/>
            <a:ext cx="685800" cy="6858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54480" y="1463040"/>
            <a:ext cx="685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1600" b="1">
                <a:solidFill>
                  <a:srgbClr val="FFFFFF"/>
                </a:solidFill>
                <a:latin typeface="Arial"/>
              </a:defRPr>
            </a:pPr>
            <a:r>
              <a:t>第一</a:t>
            </a:r>
          </a:p>
        </p:txBody>
      </p:sp>
      <p:sp>
        <p:nvSpPr>
          <p:cNvPr id="10" name="Rectangle 9"/>
          <p:cNvSpPr/>
          <p:nvPr/>
        </p:nvSpPr>
        <p:spPr>
          <a:xfrm>
            <a:off x="3154680" y="1737360"/>
            <a:ext cx="182880" cy="13716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2286000"/>
            <a:ext cx="2377440" cy="3383280"/>
          </a:xfrm>
          <a:prstGeom prst="rect">
            <a:avLst>
              <a:gd name="roundt" fmla="val 1500.0"/>
              <a:gd name="roundb" fmla="val 1500.0"/>
              <a:gd name="roundl" fmla="val 1500.0"/>
              <a:gd name="roundr" fmla="val 1500.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2377440"/>
            <a:ext cx="215798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100" b="1">
                <a:solidFill>
                  <a:srgbClr val="1E40AF"/>
                </a:solidFill>
                <a:latin typeface="Arial"/>
              </a:defRPr>
            </a:pPr>
            <a:r>
              <a:t>基础架构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2651760"/>
            <a:ext cx="215798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900" b="0">
                <a:solidFill>
                  <a:srgbClr val="6B7280"/>
                </a:solidFill>
                <a:latin typeface="Arial"/>
              </a:defRPr>
            </a:pPr>
            <a:r>
              <a:t>0-4周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297180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900" b="0">
                <a:solidFill>
                  <a:srgbClr val="6B7280"/>
                </a:solidFill>
                <a:latin typeface="Arial"/>
              </a:defRPr>
            </a:pPr>
            <a:r>
              <a:t>• 核心模块开发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324612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900" b="0">
                <a:solidFill>
                  <a:srgbClr val="6B7280"/>
                </a:solidFill>
                <a:latin typeface="Arial"/>
              </a:defRPr>
            </a:pPr>
            <a:r>
              <a:t>• 数据库设计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352044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900" b="0">
                <a:solidFill>
                  <a:srgbClr val="6B7280"/>
                </a:solidFill>
                <a:latin typeface="Arial"/>
              </a:defRPr>
            </a:pPr>
            <a:r>
              <a:t>• API接口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60520" y="1371600"/>
            <a:ext cx="685800" cy="685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60520" y="1463040"/>
            <a:ext cx="685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1600" b="1">
                <a:solidFill>
                  <a:srgbClr val="FFFFFF"/>
                </a:solidFill>
                <a:latin typeface="Arial"/>
              </a:defRPr>
            </a:pPr>
            <a:r>
              <a:t>第二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760720" y="1737360"/>
            <a:ext cx="182880" cy="1371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337560" y="2286000"/>
            <a:ext cx="2377440" cy="3383280"/>
          </a:xfrm>
          <a:prstGeom prst="rect">
            <a:avLst>
              <a:gd name="roundt" fmla="val 1500.0"/>
              <a:gd name="roundb" fmla="val 1500.0"/>
              <a:gd name="roundl" fmla="val 1500.0"/>
              <a:gd name="roundr" fmla="val 1500.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47288" y="2377440"/>
            <a:ext cx="215798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100" b="1">
                <a:solidFill>
                  <a:srgbClr val="F59E0B"/>
                </a:solidFill>
                <a:latin typeface="Arial"/>
              </a:defRPr>
            </a:pPr>
            <a:r>
              <a:t>核心功能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47288" y="2651760"/>
            <a:ext cx="215798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900" b="0">
                <a:solidFill>
                  <a:srgbClr val="6B7280"/>
                </a:solidFill>
                <a:latin typeface="Arial"/>
              </a:defRPr>
            </a:pPr>
            <a:r>
              <a:t>4-8周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0" y="297180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900" b="0">
                <a:solidFill>
                  <a:srgbClr val="6B7280"/>
                </a:solidFill>
                <a:latin typeface="Arial"/>
              </a:defRPr>
            </a:pPr>
            <a:r>
              <a:t>• 订单流程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0" y="324612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900" b="0">
                <a:solidFill>
                  <a:srgbClr val="6B7280"/>
                </a:solidFill>
                <a:latin typeface="Arial"/>
              </a:defRPr>
            </a:pPr>
            <a:r>
              <a:t>• 支付集成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66160" y="352044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900" b="0">
                <a:solidFill>
                  <a:srgbClr val="6B7280"/>
                </a:solidFill>
                <a:latin typeface="Arial"/>
              </a:defRPr>
            </a:pPr>
            <a:r>
              <a:t>• 库存管理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766560" y="1371600"/>
            <a:ext cx="685800" cy="685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66560" y="1463040"/>
            <a:ext cx="685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1600" b="1">
                <a:solidFill>
                  <a:srgbClr val="FFFFFF"/>
                </a:solidFill>
                <a:latin typeface="Arial"/>
              </a:defRPr>
            </a:pPr>
            <a:r>
              <a:t>第三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43600" y="2286000"/>
            <a:ext cx="2377440" cy="3383280"/>
          </a:xfrm>
          <a:prstGeom prst="rect">
            <a:avLst>
              <a:gd name="roundt" fmla="val 1500.0"/>
              <a:gd name="roundb" fmla="val 1500.0"/>
              <a:gd name="roundl" fmla="val 1500.0"/>
              <a:gd name="roundr" fmla="val 1500.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053328" y="2377440"/>
            <a:ext cx="215798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100" b="1">
                <a:solidFill>
                  <a:srgbClr val="3B82F6"/>
                </a:solidFill>
                <a:latin typeface="Arial"/>
              </a:defRPr>
            </a:pPr>
            <a:r>
              <a:t>优化完善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53328" y="2651760"/>
            <a:ext cx="215798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900" b="0">
                <a:solidFill>
                  <a:srgbClr val="6B7280"/>
                </a:solidFill>
                <a:latin typeface="Arial"/>
              </a:defRPr>
            </a:pPr>
            <a:r>
              <a:t>8-12周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72200" y="297180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900" b="0">
                <a:solidFill>
                  <a:srgbClr val="6B7280"/>
                </a:solidFill>
                <a:latin typeface="Arial"/>
              </a:defRPr>
            </a:pPr>
            <a:r>
              <a:t>• 性能优化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72200" y="324612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900" b="0">
                <a:solidFill>
                  <a:srgbClr val="6B7280"/>
                </a:solidFill>
                <a:latin typeface="Arial"/>
              </a:defRPr>
            </a:pPr>
            <a:r>
              <a:t>• 安全加固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72200" y="352044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900" b="0">
                <a:solidFill>
                  <a:srgbClr val="6B7280"/>
                </a:solidFill>
                <a:latin typeface="Arial"/>
              </a:defRPr>
            </a:pPr>
            <a:r>
              <a:t>• 数据分析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0" y="63093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  <a:defRPr sz="1800" b="1">
                <a:solidFill>
                  <a:srgbClr val="9CA3AF"/>
                </a:solidFill>
                <a:latin typeface="Consolas"/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2400" b="1">
                <a:solidFill>
                  <a:srgbClr val="1F2937"/>
                </a:solidFill>
                <a:latin typeface="Arial"/>
              </a:defRPr>
            </a:pPr>
            <a:r>
              <a:t>对比分析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10728655" cy="127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100" b="0">
                <a:solidFill>
                  <a:srgbClr val="6B7280"/>
                </a:solidFill>
                <a:latin typeface="Arial"/>
              </a:defRPr>
            </a:pPr>
            <a:r>
              <a:t>现状与目标差距分析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" y="91440"/>
            <a:ext cx="4572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371600"/>
            <a:ext cx="2377440" cy="1828800"/>
          </a:xfrm>
          <a:prstGeom prst="rect">
            <a:avLst>
              <a:gd name="roundt" fmla="val 1500.0"/>
              <a:gd name="roundb" fmla="val 1500.0"/>
              <a:gd name="roundl" fmla="val 1500.0"/>
              <a:gd name="roundr" fmla="val 1500.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1463040"/>
            <a:ext cx="215798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000" b="0">
                <a:solidFill>
                  <a:srgbClr val="6B7280"/>
                </a:solidFill>
                <a:latin typeface="Arial"/>
              </a:defRPr>
            </a:pPr>
            <a:r>
              <a:t>处理效率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1828800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800" b="0">
                <a:solidFill>
                  <a:srgbClr val="9CA3AF"/>
                </a:solidFill>
                <a:latin typeface="Arial"/>
              </a:defRPr>
            </a:pPr>
            <a:r>
              <a:t>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205740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400" b="1">
                <a:solidFill>
                  <a:srgbClr val="1F2937"/>
                </a:solidFill>
                <a:latin typeface="Arial"/>
              </a:defRPr>
            </a:pPr>
            <a:r>
              <a:t>4.2小时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0" y="1828800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800" b="0">
                <a:solidFill>
                  <a:srgbClr val="9CA3AF"/>
                </a:solidFill>
                <a:latin typeface="Arial"/>
              </a:defRPr>
            </a:pPr>
            <a:r>
              <a:t>目标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0" y="205740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400" b="1">
                <a:solidFill>
                  <a:srgbClr val="1E40AF"/>
                </a:solidFill>
                <a:latin typeface="Arial"/>
              </a:defRPr>
            </a:pPr>
            <a:r>
              <a:t>1.8小时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41248" y="2468880"/>
            <a:ext cx="2157984" cy="18288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41248" y="2468880"/>
            <a:ext cx="924850" cy="18288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337560" y="1371600"/>
            <a:ext cx="2377440" cy="1828800"/>
          </a:xfrm>
          <a:prstGeom prst="rect">
            <a:avLst>
              <a:gd name="roundt" fmla="val 1500.0"/>
              <a:gd name="roundb" fmla="val 1500.0"/>
              <a:gd name="roundl" fmla="val 1500.0"/>
              <a:gd name="roundr" fmla="val 1500.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47288" y="1463040"/>
            <a:ext cx="215798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000" b="0">
                <a:solidFill>
                  <a:srgbClr val="6B7280"/>
                </a:solidFill>
                <a:latin typeface="Arial"/>
              </a:defRPr>
            </a:pPr>
            <a:r>
              <a:t>人工审核率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47288" y="1828800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800" b="0">
                <a:solidFill>
                  <a:srgbClr val="9CA3AF"/>
                </a:solidFill>
                <a:latin typeface="Arial"/>
              </a:defRPr>
            </a:pPr>
            <a:r>
              <a:t>当前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47288" y="205740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400" b="1">
                <a:solidFill>
                  <a:srgbClr val="1F2937"/>
                </a:solidFill>
                <a:latin typeface="Arial"/>
              </a:defRPr>
            </a:pPr>
            <a:r>
              <a:t>100%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17720" y="1828800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800" b="0">
                <a:solidFill>
                  <a:srgbClr val="9CA3AF"/>
                </a:solidFill>
                <a:latin typeface="Arial"/>
              </a:defRPr>
            </a:pPr>
            <a:r>
              <a:t>目标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17720" y="205740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400" b="1">
                <a:solidFill>
                  <a:srgbClr val="F59E0B"/>
                </a:solidFill>
                <a:latin typeface="Arial"/>
              </a:defRPr>
            </a:pPr>
            <a:r>
              <a:t>40%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447288" y="2468880"/>
            <a:ext cx="2157984" cy="18288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447288" y="2468880"/>
            <a:ext cx="863193" cy="1828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943600" y="1371600"/>
            <a:ext cx="2377440" cy="1828800"/>
          </a:xfrm>
          <a:prstGeom prst="rect">
            <a:avLst>
              <a:gd name="roundt" fmla="val 1500.0"/>
              <a:gd name="roundb" fmla="val 1500.0"/>
              <a:gd name="roundl" fmla="val 1500.0"/>
              <a:gd name="roundr" fmla="val 1500.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53328" y="1463040"/>
            <a:ext cx="215798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000" b="0">
                <a:solidFill>
                  <a:srgbClr val="6B7280"/>
                </a:solidFill>
                <a:latin typeface="Arial"/>
              </a:defRPr>
            </a:pPr>
            <a:r>
              <a:t>错误率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53328" y="1828800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800" b="0">
                <a:solidFill>
                  <a:srgbClr val="9CA3AF"/>
                </a:solidFill>
                <a:latin typeface="Arial"/>
              </a:defRPr>
            </a:pPr>
            <a:r>
              <a:t>当前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53328" y="205740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400" b="1">
                <a:solidFill>
                  <a:srgbClr val="1F2937"/>
                </a:solidFill>
                <a:latin typeface="Arial"/>
              </a:defRPr>
            </a:pPr>
            <a:r>
              <a:t>3.2%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23760" y="1828800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800" b="0">
                <a:solidFill>
                  <a:srgbClr val="9CA3AF"/>
                </a:solidFill>
                <a:latin typeface="Arial"/>
              </a:defRPr>
            </a:pPr>
            <a:r>
              <a:t>目标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23760" y="205740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400" b="1">
                <a:solidFill>
                  <a:srgbClr val="EF4444"/>
                </a:solidFill>
                <a:latin typeface="Arial"/>
              </a:defRPr>
            </a:pPr>
            <a:r>
              <a:t>1.1%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053328" y="2468880"/>
            <a:ext cx="2157984" cy="18288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053328" y="2468880"/>
            <a:ext cx="741806" cy="1828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549640" y="1371600"/>
            <a:ext cx="2377440" cy="1828800"/>
          </a:xfrm>
          <a:prstGeom prst="rect">
            <a:avLst>
              <a:gd name="roundt" fmla="val 1500.0"/>
              <a:gd name="roundb" fmla="val 1500.0"/>
              <a:gd name="roundl" fmla="val 1500.0"/>
              <a:gd name="roundr" fmla="val 1500.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59368" y="1463040"/>
            <a:ext cx="215798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000" b="0">
                <a:solidFill>
                  <a:srgbClr val="6B7280"/>
                </a:solidFill>
                <a:latin typeface="Arial"/>
              </a:defRPr>
            </a:pPr>
            <a:r>
              <a:t>人员利用率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59368" y="1828800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800" b="0">
                <a:solidFill>
                  <a:srgbClr val="9CA3AF"/>
                </a:solidFill>
                <a:latin typeface="Arial"/>
              </a:defRPr>
            </a:pPr>
            <a:r>
              <a:t>当前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59368" y="205740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400" b="1">
                <a:solidFill>
                  <a:srgbClr val="1F2937"/>
                </a:solidFill>
                <a:latin typeface="Arial"/>
              </a:defRPr>
            </a:pPr>
            <a:r>
              <a:t>68%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829800" y="1828800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800" b="0">
                <a:solidFill>
                  <a:srgbClr val="9CA3AF"/>
                </a:solidFill>
                <a:latin typeface="Arial"/>
              </a:defRPr>
            </a:pPr>
            <a:r>
              <a:t>目标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829800" y="205740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400" b="1">
                <a:solidFill>
                  <a:srgbClr val="10B981"/>
                </a:solidFill>
                <a:latin typeface="Arial"/>
              </a:defRPr>
            </a:pPr>
            <a:r>
              <a:t>92%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659368" y="2468880"/>
            <a:ext cx="2157984" cy="18288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659368" y="2468880"/>
            <a:ext cx="2157984" cy="1828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31520" y="3474720"/>
            <a:ext cx="10728655" cy="2377440"/>
          </a:xfrm>
          <a:prstGeom prst="rect">
            <a:avLst>
              <a:gd name="roundt" fmla="val 1500.0"/>
              <a:gd name="roundb" fmla="val 1500.0"/>
              <a:gd name="roundl" fmla="val 1500.0"/>
              <a:gd name="roundr" fmla="val 1500.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" y="356616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200" b="1">
                <a:solidFill>
                  <a:srgbClr val="F59E0B"/>
                </a:solidFill>
                <a:latin typeface="Arial"/>
              </a:defRPr>
            </a:pPr>
            <a:r>
              <a:t>关键改进措施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400" y="3931920"/>
            <a:ext cx="103628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000" b="1">
                <a:solidFill>
                  <a:srgbClr val="1F2937"/>
                </a:solidFill>
                <a:latin typeface="Arial"/>
              </a:defRPr>
            </a:pPr>
            <a:r>
              <a:t>1. 引入分布式锁</a:t>
            </a:r>
          </a:p>
          <a:p>
            <a:pPr>
              <a:lnSpc>
                <a:spcPct val="120000"/>
              </a:lnSpc>
              <a:defRPr sz="1000" b="1">
                <a:solidFill>
                  <a:srgbClr val="1F2937"/>
                </a:solidFill>
                <a:latin typeface="Arial"/>
              </a:defRPr>
            </a:pPr>
            <a:r>
              <a:t>2. 异步支付处理</a:t>
            </a:r>
          </a:p>
          <a:p>
            <a:pPr>
              <a:lnSpc>
                <a:spcPct val="120000"/>
              </a:lnSpc>
              <a:defRPr sz="1000" b="1">
                <a:solidFill>
                  <a:srgbClr val="1F2937"/>
                </a:solidFill>
                <a:latin typeface="Arial"/>
              </a:defRPr>
            </a:pPr>
            <a:r>
              <a:t>3. 智能库存预警</a:t>
            </a:r>
          </a:p>
          <a:p>
            <a:pPr>
              <a:lnSpc>
                <a:spcPct val="120000"/>
              </a:lnSpc>
              <a:defRPr sz="1000" b="1">
                <a:solidFill>
                  <a:srgbClr val="1F2937"/>
                </a:solidFill>
                <a:latin typeface="Arial"/>
              </a:defRPr>
            </a:pPr>
            <a:r>
              <a:t>4. 实时数据同步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972800" y="63093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  <a:defRPr sz="1800" b="1">
                <a:solidFill>
                  <a:srgbClr val="9CA3AF"/>
                </a:solidFill>
                <a:latin typeface="Consolas"/>
              </a:defRPr>
            </a:pPr>
            <a: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3600" b="1">
                <a:solidFill>
                  <a:srgbClr val="FFFFFF"/>
                </a:solidFill>
                <a:latin typeface="Arial"/>
              </a:defRPr>
            </a:pPr>
            <a:r>
              <a:t>感谢您的关注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92608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600" b="0">
                <a:solidFill>
                  <a:srgbClr val="FFFFFF"/>
                </a:solidFill>
                <a:latin typeface="Arial"/>
              </a:defRPr>
            </a:pPr>
            <a:r>
              <a:t>零售电商订单管理系统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840480"/>
            <a:ext cx="137160" cy="54864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4754880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100" b="0">
                <a:solidFill>
                  <a:srgbClr val="9CA3AF"/>
                </a:solidFill>
                <a:latin typeface="Arial"/>
              </a:defRPr>
            </a:pPr>
            <a:r>
              <a:t>BSC Engine · Business System Compiler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3093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  <a:defRPr sz="1800" b="1">
                <a:solidFill>
                  <a:srgbClr val="9CA3AF"/>
                </a:solidFill>
                <a:latin typeface="Consolas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