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880360"/>
            <a:ext cx="640080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84C"/>
                </a:solidFill>
              </a:defRPr>
            </a:pPr>
            <a:r>
              <a:t>Content Moderation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63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8B8"/>
                </a:solidFill>
              </a:defRPr>
            </a:pPr>
            <a:r>
              <a:t>Business System Analysis | content-safety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E9E9E"/>
                </a:solidFill>
              </a:defRPr>
            </a:pPr>
            <a:r>
              <a:t> CONFIDENTIAL  |  Bidding Proposal  |  BSC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</a:defRPr>
            </a:pPr>
            <a:r>
              <a:t>  Decomposed into 4 business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385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</a:defRPr>
            </a:pPr>
            <a:r>
              <a:t>  End-to-end workflow with 7 process nodes and SLA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140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</a:defRPr>
            </a:pPr>
            <a:r>
              <a:t>  Measurable KPIs across 5 dimensions: Capacity, Cost, Efficiency, Quality,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950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</a:defRPr>
            </a:pPr>
            <a:r>
              <a:t>  4 identified risks (3 high-impact)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63040"/>
            <a:ext cx="2560320" cy="274320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B8B8"/>
                </a:solidFill>
              </a:defRPr>
            </a:pPr>
            <a: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874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4389120"/>
            <a:ext cx="2560320" cy="137160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44805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B8B8"/>
                </a:solidFill>
              </a:defRPr>
            </a:pPr>
            <a:r>
              <a:t>Urgency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4800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</a:defRPr>
            </a:pPr>
            <a:r>
              <a:t>IMMEDIATE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2  |  Confidential  |  BSC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Business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783080" cy="182880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36576" cy="1828800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14173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E8"/>
                </a:solidFill>
              </a:defRPr>
            </a:pPr>
            <a:r>
              <a:t>AI Screening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1645920"/>
            <a:ext cx="1783080" cy="182880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71800" y="1645920"/>
            <a:ext cx="36576" cy="1828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783080"/>
            <a:ext cx="14173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E8"/>
                </a:solidFill>
              </a:defRPr>
            </a:pPr>
            <a:r>
              <a:t>Content Ingestion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645920"/>
            <a:ext cx="1783080" cy="182880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1645920"/>
            <a:ext cx="36576" cy="1828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783080"/>
            <a:ext cx="14173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E8"/>
                </a:solidFill>
              </a:defRPr>
            </a:pPr>
            <a:r>
              <a:t>Human Review Workbench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1645920"/>
            <a:ext cx="1783080" cy="182880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1645920"/>
            <a:ext cx="36576" cy="1828800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783080"/>
            <a:ext cx="14173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E8"/>
                </a:solidFill>
              </a:defRPr>
            </a:pPr>
            <a:r>
              <a:t>Operations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3  |  Confidential  |  BSC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Process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19" y="3200400"/>
            <a:ext cx="1371600" cy="1097280"/>
          </a:xfrm>
          <a:prstGeom prst="rect">
            <a:avLst/>
          </a:prstGeom>
          <a:solidFill>
            <a:srgbClr val="C9A84C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161A"/>
                </a:solidFill>
              </a:defRPr>
            </a:pPr>
            <a:r>
              <a:t>Start: Submit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39" y="3520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</a:defRPr>
            </a:pPr>
            <a: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39" y="3200400"/>
            <a:ext cx="1371600" cy="1097280"/>
          </a:xfrm>
          <a:prstGeom prst="rect">
            <a:avLst/>
          </a:prstGeom>
          <a:solidFill>
            <a:srgbClr val="1C2024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79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End: Notify Rejection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3520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</a:defRPr>
            </a:pPr>
            <a: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3200400"/>
            <a:ext cx="1371600" cy="1097280"/>
          </a:xfrm>
          <a:prstGeom prst="rect">
            <a:avLst/>
          </a:prstGeom>
          <a:solidFill>
            <a:srgbClr val="1C2024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520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</a:defRPr>
            </a:pPr>
            <a: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3200400"/>
            <a:ext cx="1371600" cy="1097280"/>
          </a:xfrm>
          <a:prstGeom prst="rect">
            <a:avLst/>
          </a:prstGeom>
          <a:solidFill>
            <a:srgbClr val="5A9E96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4  |  Confidential  |  BSC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Key Performance Indicators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737360" cy="164592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264408"/>
            <a:ext cx="173736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737360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B8B8"/>
                </a:solidFill>
              </a:defRPr>
            </a:pPr>
            <a:r>
              <a:t>Daily Throughput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103120"/>
            <a:ext cx="15179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9A84C"/>
                </a:solidFill>
              </a:defRPr>
            </a:pPr>
            <a:r>
              <a:t>&gt; 4000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645920"/>
            <a:ext cx="1737360" cy="164592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4640" y="3264408"/>
            <a:ext cx="173736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1737360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B8B8"/>
                </a:solidFill>
              </a:defRPr>
            </a:pPr>
            <a:r>
              <a:t>Avg Screening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103120"/>
            <a:ext cx="15179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9A84C"/>
                </a:solidFill>
              </a:defRPr>
            </a:pPr>
            <a:r>
              <a:t>&lt; 500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645920"/>
            <a:ext cx="1737360" cy="164592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3264408"/>
            <a:ext cx="1737360" cy="27432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4608" y="1737360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B8B8"/>
                </a:solidFill>
              </a:defRPr>
            </a:pPr>
            <a:r>
              <a:t>Screening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2103120"/>
            <a:ext cx="15179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A9E96"/>
                </a:solidFill>
              </a:defRPr>
            </a:pPr>
            <a:r>
              <a:t>&gt; 99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645920"/>
            <a:ext cx="1737360" cy="164592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3264408"/>
            <a:ext cx="1737360" cy="27432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1737360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B8B8"/>
                </a:solidFill>
              </a:defRPr>
            </a:pPr>
            <a:r>
              <a:t>False Positive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2103120"/>
            <a:ext cx="15179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A9E96"/>
                </a:solidFill>
              </a:defRPr>
            </a:pPr>
            <a:r>
              <a:t>&lt;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657600"/>
            <a:ext cx="1737360" cy="164592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5276088"/>
            <a:ext cx="1737360" cy="27432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3749039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B8B8"/>
                </a:solidFill>
              </a:defRPr>
            </a:pPr>
            <a:r>
              <a:t>Review Queue Length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114800"/>
            <a:ext cx="15179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A9E96"/>
                </a:solidFill>
              </a:defRPr>
            </a:pPr>
            <a:r>
              <a:t>&lt; 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657600"/>
            <a:ext cx="1737360" cy="164592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34640" y="5276088"/>
            <a:ext cx="1737360" cy="27432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44368" y="3749039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B8B8"/>
                </a:solidFill>
              </a:defRPr>
            </a:pPr>
            <a:r>
              <a:t>Reviewer Utilization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44368" y="4114800"/>
            <a:ext cx="15179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A9E96"/>
                </a:solidFill>
              </a:defRPr>
            </a:pPr>
            <a:r>
              <a:t>70-85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3657600"/>
            <a:ext cx="1737360" cy="164592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5276088"/>
            <a:ext cx="1737360" cy="27432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64608" y="3749039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B8B8"/>
                </a:solidFill>
              </a:defRPr>
            </a:pPr>
            <a:r>
              <a:t>Cost Per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4608" y="4114800"/>
            <a:ext cx="15179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A9E96"/>
                </a:solidFill>
              </a:defRPr>
            </a:pPr>
            <a:r>
              <a:t>&lt; 0.50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3657600"/>
            <a:ext cx="1737360" cy="164592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5276088"/>
            <a:ext cx="1737360" cy="27432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3749039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B8B8"/>
                </a:solidFill>
              </a:defRPr>
            </a:pPr>
            <a:r>
              <a:t>SLA Compliance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4114800"/>
            <a:ext cx="15179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A9E96"/>
                </a:solidFill>
              </a:defRPr>
            </a:pPr>
            <a:r>
              <a:t>&gt; 99.5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5  |  Confidential  |  BSC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Risk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474720" cy="1188720"/>
          </a:xfrm>
          <a:prstGeom prst="rect">
            <a:avLst/>
          </a:prstGeom>
          <a:solidFill>
            <a:srgbClr val="1C2024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4572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E8"/>
                </a:solidFill>
              </a:defRPr>
            </a:pPr>
            <a:r>
              <a:t>AI False Negatives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783080"/>
            <a:ext cx="73152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7830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8E8E8"/>
                </a:solidFill>
              </a:defRPr>
            </a:pPr>
            <a:r>
              <a:t>HIGH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645920"/>
            <a:ext cx="3474720" cy="1188720"/>
          </a:xfrm>
          <a:prstGeom prst="rect">
            <a:avLst/>
          </a:prstGeom>
          <a:solidFill>
            <a:srgbClr val="1C2024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0" y="1645920"/>
            <a:ext cx="45720" cy="1188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73736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E8"/>
                </a:solidFill>
              </a:defRPr>
            </a:pPr>
            <a:r>
              <a:t>Reviewer Fatigue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783080"/>
            <a:ext cx="731520" cy="2560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7830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2161A"/>
                </a:solidFill>
              </a:defRPr>
            </a:pPr>
            <a:r>
              <a:t>MEDIUM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108960"/>
            <a:ext cx="3474720" cy="1188720"/>
          </a:xfrm>
          <a:prstGeom prst="rect">
            <a:avLst/>
          </a:prstGeom>
          <a:solidFill>
            <a:srgbClr val="1C2024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108960"/>
            <a:ext cx="4572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20040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E8"/>
                </a:solidFill>
              </a:defRPr>
            </a:pPr>
            <a:r>
              <a:t>Peak Volume Overload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3246120"/>
            <a:ext cx="73152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24612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8E8E8"/>
                </a:solidFill>
              </a:defRPr>
            </a:pPr>
            <a: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3108960"/>
            <a:ext cx="3474720" cy="1188720"/>
          </a:xfrm>
          <a:prstGeom prst="rect">
            <a:avLst/>
          </a:prstGeom>
          <a:solidFill>
            <a:srgbClr val="1C2024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3108960"/>
            <a:ext cx="4572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20040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E8"/>
                </a:solidFill>
              </a:defRPr>
            </a:pPr>
            <a:r>
              <a:t>API Downtime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3246120"/>
            <a:ext cx="73152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324612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8E8E8"/>
                </a:solidFill>
              </a:defRPr>
            </a:pPr>
            <a: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6  |  Confidential  |  BSC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C9A84C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6459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</a:defRPr>
            </a:pPr>
            <a:r>
              <a:t>System ready for implementation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C9A84C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060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</a:defRPr>
            </a:pPr>
            <a:r>
              <a:t>Recommended team size: 4 cross-functional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C9A84C"/>
                </a:solidFill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56616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</a:defRPr>
            </a:pPr>
            <a:r>
              <a:t>Immediate attention: AI False Negatives, Peak Volume Overload, API Downtime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7  |  Confidential  |  BSC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926080"/>
            <a:ext cx="365760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9A84C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B8B8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E9E9E"/>
                </a:solidFill>
              </a:defRPr>
            </a:pPr>
            <a:r>
              <a:t>Confidential  |  BSC Engine  |  Prepared for Executive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8  |  Confidential  |  BSC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