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Content Moderation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Content Moderation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8B8"/>
                </a:solidFill>
              </a:defRPr>
            </a:pPr>
            <a:r>
              <a:t>Business System Analysis | content-safety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 CONFIDENTIAL  |  Bidding Proposal  |  BSC Engine v5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9E96"/>
                </a:solidFill>
              </a:defRPr>
            </a:pPr>
            <a:r>
              <a:t>  End with a clear recommendation. Then stop talking.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1  |  Confidential  |  BSC Engine v5  |  Consulting-Grade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  Decomposed into 4 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470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  End-to-end workflow with 7 process nodes and SLA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225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  Measurable KPIs across 5 dimensions: Capacity, Cost, Efficiency, Quality,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980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  4 identified risks (3 high-impact)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2560320" cy="16459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3328" y="1444752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737360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91840"/>
            <a:ext cx="2560320" cy="109728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3364992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3657600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</a:defRPr>
            </a:pPr>
            <a:r>
              <a:t>IMMEDIATE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2  |  Confidential  |  BSC Engine v5  |  Consulting-Grade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73736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36576" cy="1828800"/>
          </a:xfrm>
          <a:prstGeom prst="rect">
            <a:avLst/>
          </a:prstGeom>
          <a:solidFill>
            <a:srgbClr val="5A9E96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72768"/>
            <a:ext cx="14081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AI Screening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463040"/>
            <a:ext cx="173736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36576" cy="1828800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572768"/>
            <a:ext cx="14081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Content 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173736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1572768"/>
            <a:ext cx="14081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Human Review Workbench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463040"/>
            <a:ext cx="1737360" cy="182880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463040"/>
            <a:ext cx="36576" cy="1828800"/>
          </a:xfrm>
          <a:prstGeom prst="rect">
            <a:avLst/>
          </a:prstGeom>
          <a:solidFill>
            <a:srgbClr val="5A9E96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572768"/>
            <a:ext cx="14081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</a:defRPr>
            </a:pPr>
            <a:r>
              <a:t>Operations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3  |  Confidential  |  BSC Engine v5  |  Consulting-Grade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Process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926080"/>
            <a:ext cx="1188720" cy="822960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6152" y="3108960"/>
            <a:ext cx="1042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161A"/>
                </a:solidFill>
              </a:defRPr>
            </a:pPr>
            <a:r>
              <a:t>Start: Submit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0008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84C"/>
                </a:solidFill>
              </a:defRPr>
            </a:pPr>
            <a:r>
              <a:t>▶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926080"/>
            <a:ext cx="1188720" cy="8229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3108960"/>
            <a:ext cx="1042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End: Notify Rejection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7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84C"/>
                </a:solidFill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2926080"/>
            <a:ext cx="1188720" cy="8229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3108960"/>
            <a:ext cx="1042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7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84C"/>
                </a:solidFill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926080"/>
            <a:ext cx="1188720" cy="8229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3108960"/>
            <a:ext cx="1042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1272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84C"/>
                </a:solidFill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926080"/>
            <a:ext cx="1188720" cy="822960"/>
          </a:xfrm>
          <a:prstGeom prst="rect">
            <a:avLst/>
          </a:prstGeom>
          <a:solidFill>
            <a:srgbClr val="5A9E96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3108960"/>
            <a:ext cx="1042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4  |  Confidential  |  BSC Engine v5  |  Consulting-Grade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737360" cy="11887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532888"/>
            <a:ext cx="1737360" cy="27432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Daily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&gt; 4000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71600"/>
            <a:ext cx="1737360" cy="11887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2532888"/>
            <a:ext cx="1737360" cy="27432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Avg Screening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556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&lt; 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1737360" cy="11887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532888"/>
            <a:ext cx="1737360" cy="27432"/>
          </a:xfrm>
          <a:prstGeom prst="rect">
            <a:avLst/>
          </a:prstGeom>
          <a:solidFill>
            <a:srgbClr val="5A9E96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Screening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556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9E96"/>
                </a:solidFill>
              </a:defRPr>
            </a:pPr>
            <a:r>
              <a:t>&gt; 99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371600"/>
            <a:ext cx="1737360" cy="118872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532888"/>
            <a:ext cx="1737360" cy="27432"/>
          </a:xfrm>
          <a:prstGeom prst="rect">
            <a:avLst/>
          </a:prstGeom>
          <a:solidFill>
            <a:srgbClr val="5A9E96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444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B8B8"/>
                </a:solidFill>
              </a:defRPr>
            </a:pPr>
            <a:r>
              <a:t>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556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9E96"/>
                </a:solidFill>
              </a:defRPr>
            </a:pPr>
            <a:r>
              <a:t>&lt;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5  |  Confidential  |  BSC Engine v5  |  Consulting-Grade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3474720" cy="10515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45720" cy="105156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361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8"/>
                </a:solidFill>
              </a:defRPr>
            </a:pPr>
            <a:r>
              <a:t>AI False Negatives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572768"/>
            <a:ext cx="658368" cy="22860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727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E8E8"/>
                </a:solidFill>
              </a:defRPr>
            </a:pPr>
            <a:r>
              <a:t>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63040"/>
            <a:ext cx="3474720" cy="10515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463040"/>
            <a:ext cx="45720" cy="1051560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5361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8"/>
                </a:solidFill>
              </a:defRPr>
            </a:pPr>
            <a:r>
              <a:t>Reviewer Fatigue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572768"/>
            <a:ext cx="658368" cy="228600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5727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2161A"/>
                </a:solidFill>
              </a:defRPr>
            </a:pPr>
            <a:r>
              <a:t>MEDIUM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88920"/>
            <a:ext cx="3474720" cy="10515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788920"/>
            <a:ext cx="45720" cy="105156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8620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8"/>
                </a:solidFill>
              </a:defRPr>
            </a:pPr>
            <a:r>
              <a:t>Peak Volume Overload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898648"/>
            <a:ext cx="658368" cy="22860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9864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E8E8"/>
                </a:solidFill>
              </a:defRPr>
            </a:pPr>
            <a: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788920"/>
            <a:ext cx="3474720" cy="1051560"/>
          </a:xfrm>
          <a:prstGeom prst="rect">
            <a:avLst/>
          </a:prstGeom>
          <a:solidFill>
            <a:srgbClr val="1C2024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2788920"/>
            <a:ext cx="45720" cy="105156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28620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8"/>
                </a:solidFill>
              </a:defRPr>
            </a:pPr>
            <a:r>
              <a:t>API Downtime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898648"/>
            <a:ext cx="658368" cy="228600"/>
          </a:xfrm>
          <a:prstGeom prst="rect">
            <a:avLst/>
          </a:prstGeom>
          <a:solidFill>
            <a:srgbClr val="C0392B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89864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E8E8"/>
                </a:solidFill>
              </a:defRPr>
            </a:pPr>
            <a: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6  |  Confidential  |  BSC Engine v5  |  Consulting-Grade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System ready for implementation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Recommended team size: 4 cross-functional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C9A84C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918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</a:defRPr>
            </a:pPr>
            <a:r>
              <a:t>Immediate attention: AI False Negatives, Peak Volume Overload, API 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7  |  Confidential  |  BSC Engine v5  |  Consulting-Grade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C9A84C"/>
          </a:solidFill>
          <a:ln w="1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│ BSC Engine v5 │ Prepared for Executive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</a:defRPr>
            </a:pPr>
            <a:r>
              <a:t>8  |  Confidential  |  BSC Engine v5  |  Consulting-Grade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