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6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0" y="2880360"/>
            <a:ext cx="6400800" cy="1828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6400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C9A84C"/>
                </a:solidFill>
              </a:defRPr>
            </a:pPr>
            <a:r>
              <a:t>Enterprise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6576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E9E9E"/>
                </a:solidFill>
              </a:defRPr>
            </a:pPr>
            <a:r>
              <a:t> CONFIDENTIAL  |  Bidding Proposal  |  BSC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E9E9E"/>
                </a:solidFill>
              </a:defRPr>
            </a:pPr>
            <a:r>
              <a:t>1  |  Confidential  |  BSC Engine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6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548640"/>
            <a:ext cx="7315200" cy="1371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68580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8E8E8"/>
                </a:solidFill>
              </a:defRPr>
            </a:pPr>
            <a: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8E8"/>
                </a:solidFill>
              </a:defRPr>
            </a:pPr>
          </a:p>
        </p:txBody>
      </p:sp>
      <p:sp>
        <p:nvSpPr>
          <p:cNvPr id="5" name="TextBox 4"/>
          <p:cNvSpPr txBox="1"/>
          <p:nvPr/>
        </p:nvSpPr>
        <p:spPr>
          <a:xfrm>
            <a:off x="91440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E9E9E"/>
                </a:solidFill>
              </a:defRPr>
            </a:pPr>
            <a:r>
              <a:t>1  |  Confidential  |  BSC Engine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6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548640"/>
            <a:ext cx="7315200" cy="1371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68580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8E8E8"/>
                </a:solidFill>
              </a:defRPr>
            </a:pPr>
            <a:r>
              <a:t>Business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E9E9E"/>
                </a:solidFill>
              </a:defRPr>
            </a:pPr>
            <a:r>
              <a:t>1  |  Confidential  |  BSC Engine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6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548640"/>
            <a:ext cx="7315200" cy="1371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68580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8E8E8"/>
                </a:solidFill>
              </a:defRPr>
            </a:pPr>
            <a:r>
              <a:t>Workflow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1417319" y="3200400"/>
            <a:ext cx="1371600" cy="1097280"/>
          </a:xfrm>
          <a:prstGeom prst="rect">
            <a:avLst/>
          </a:prstGeom>
          <a:solidFill>
            <a:srgbClr val="C9A84C"/>
          </a:solidFill>
          <a:ln>
            <a:solidFill>
              <a:srgbClr val="262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508760" y="3474720"/>
            <a:ext cx="1188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2161A"/>
                </a:solidFill>
              </a:defRPr>
            </a:pPr>
            <a:r>
              <a:t>Step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34639" y="3520440"/>
            <a:ext cx="18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9A84C"/>
                </a:solidFill>
              </a:defRPr>
            </a:pPr>
            <a:r>
              <a:t>&gt;</a:t>
            </a:r>
          </a:p>
        </p:txBody>
      </p:sp>
      <p:sp>
        <p:nvSpPr>
          <p:cNvPr id="7" name="Rectangle 6"/>
          <p:cNvSpPr/>
          <p:nvPr/>
        </p:nvSpPr>
        <p:spPr>
          <a:xfrm>
            <a:off x="3063239" y="3200400"/>
            <a:ext cx="1371600" cy="1097280"/>
          </a:xfrm>
          <a:prstGeom prst="rect">
            <a:avLst/>
          </a:prstGeom>
          <a:solidFill>
            <a:srgbClr val="1C2024"/>
          </a:solidFill>
          <a:ln>
            <a:solidFill>
              <a:srgbClr val="262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154679" y="3474720"/>
            <a:ext cx="1188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E8E8E8"/>
                </a:solidFill>
              </a:defRPr>
            </a:pPr>
            <a:r>
              <a:t>Step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59" y="3520440"/>
            <a:ext cx="18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9A84C"/>
                </a:solidFill>
              </a:defRPr>
            </a:pPr>
            <a:r>
              <a:t>&gt;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09160" y="3200400"/>
            <a:ext cx="1371600" cy="1097280"/>
          </a:xfrm>
          <a:prstGeom prst="rect">
            <a:avLst/>
          </a:prstGeom>
          <a:solidFill>
            <a:srgbClr val="1C2024"/>
          </a:solidFill>
          <a:ln>
            <a:solidFill>
              <a:srgbClr val="262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00600" y="3474720"/>
            <a:ext cx="1188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E8E8E8"/>
                </a:solidFill>
              </a:defRPr>
            </a:pPr>
            <a:r>
              <a:t>Step 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3520440"/>
            <a:ext cx="18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9A84C"/>
                </a:solidFill>
              </a:defRPr>
            </a:pPr>
            <a:r>
              <a:t>&gt;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5080" y="3200400"/>
            <a:ext cx="1371600" cy="1097280"/>
          </a:xfrm>
          <a:prstGeom prst="rect">
            <a:avLst/>
          </a:prstGeom>
          <a:solidFill>
            <a:srgbClr val="5A9E96"/>
          </a:solidFill>
          <a:ln>
            <a:solidFill>
              <a:srgbClr val="262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474720"/>
            <a:ext cx="1188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E8E8E8"/>
                </a:solidFill>
              </a:defRPr>
            </a:pPr>
            <a:r>
              <a:t>Step 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E9E9E"/>
                </a:solidFill>
              </a:defRPr>
            </a:pPr>
            <a:r>
              <a:t>1  |  Confidential  |  BSC Engine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6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548640"/>
            <a:ext cx="7315200" cy="1371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68580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8E8E8"/>
                </a:solidFill>
              </a:defRPr>
            </a:pPr>
            <a:r>
              <a:t>KPI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E9E9E"/>
                </a:solidFill>
              </a:defRPr>
            </a:pPr>
            <a:r>
              <a:t>1  |  Confidential  |  BSC Engine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6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548640"/>
            <a:ext cx="7315200" cy="1371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68580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8E8E8"/>
                </a:solidFill>
              </a:defRPr>
            </a:pPr>
            <a:r>
              <a:t>Risk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E9E9E"/>
                </a:solidFill>
              </a:defRPr>
            </a:pPr>
            <a:r>
              <a:t>1  |  Confidential  |  BSC Engine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6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548640"/>
            <a:ext cx="7315200" cy="1371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68580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8E8E8"/>
                </a:solidFill>
              </a:defRPr>
            </a:pPr>
            <a:r>
              <a:t>Recommendations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E9E9E"/>
                </a:solidFill>
              </a:defRPr>
            </a:pPr>
            <a:r>
              <a:t>1  |  Confidential  |  BSC Engine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6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0" y="2926080"/>
            <a:ext cx="3657600" cy="1828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0" y="320040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C9A84C"/>
                </a:solidFill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9319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8B8B8"/>
                </a:solidFill>
              </a:defRPr>
            </a:pPr>
            <a: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50292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E9E9E"/>
                </a:solidFill>
              </a:defRPr>
            </a:pPr>
            <a:r>
              <a:t>Confidential  |  BSC Engine  |  Prepared for Executive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E9E9E"/>
                </a:solidFill>
              </a:defRPr>
            </a:pPr>
            <a:r>
              <a:t>1  |  Confidential  |  BSC Engine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