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rial"/>
              </a:defRPr>
            </a:pPr>
            <a:r>
              <a:t>业务系统分析报告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rial"/>
              </a:defRPr>
            </a:pPr>
            <a:r>
              <a:t>行业：retail | 2026年07月07日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754880"/>
            <a:ext cx="182880" cy="4572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Generated by BSC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系统概览与关键指标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233172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功能模块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463040"/>
            <a:ext cx="233172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流程节点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8B5CF6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233172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1463040"/>
            <a:ext cx="233172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识别风险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F4444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1F5F9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206240"/>
            <a:ext cx="4572000" cy="381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核心模块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1F5F9"/>
                </a:solidFill>
                <a:latin typeface="Arial"/>
              </a:defRPr>
            </a:pPr>
            <a:r>
              <a:t>1. 订单管理模块</a:t>
            </a:r>
          </a:p>
          <a:p>
            <a:pPr>
              <a:defRPr sz="1000" b="0">
                <a:solidFill>
                  <a:srgbClr val="F1F5F9"/>
                </a:solidFill>
                <a:latin typeface="Arial"/>
              </a:defRPr>
            </a:pPr>
            <a:r>
              <a:t>2. 支付模块</a:t>
            </a:r>
          </a:p>
          <a:p>
            <a:pPr>
              <a:defRPr sz="1000" b="0">
                <a:solidFill>
                  <a:srgbClr val="F1F5F9"/>
                </a:solidFill>
                <a:latin typeface="Arial"/>
              </a:defRPr>
            </a:pPr>
            <a:r>
              <a:t>3. 库存模块</a:t>
            </a:r>
          </a:p>
          <a:p>
            <a:pPr>
              <a:defRPr sz="1000" b="0">
                <a:solidFill>
                  <a:srgbClr val="F1F5F9"/>
                </a:solidFill>
                <a:latin typeface="Arial"/>
              </a:defRPr>
            </a:pPr>
            <a:r>
              <a:t>4. 物流模块</a:t>
            </a:r>
          </a:p>
          <a:p>
            <a:pPr>
              <a:defRPr sz="1000" b="0">
                <a:solidFill>
                  <a:srgbClr val="F1F5F9"/>
                </a:solidFill>
                <a:latin typeface="Arial"/>
              </a:defRPr>
            </a:pPr>
            <a:r>
              <a:t>5. 售后模块</a:t>
            </a:r>
          </a:p>
          <a:p>
            <a:pPr>
              <a:defRPr sz="1000" b="0">
                <a:solidFill>
                  <a:srgbClr val="F1F5F9"/>
                </a:solidFill>
                <a:latin typeface="Arial"/>
              </a:defRPr>
            </a:pPr>
            <a:r>
              <a:t>6. 数据分析模块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技术架构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1F5F9"/>
                </a:solidFill>
                <a:latin typeface="Arial"/>
              </a:defRPr>
            </a:pPr>
            <a:r>
              <a:t>FastAPI + Python + Redis + 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92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输出格式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1F5F9"/>
                </a:solidFill>
                <a:latin typeface="Arial"/>
              </a:defRPr>
            </a:pPr>
            <a:r>
              <a:t>PPTX, HTML, PDF, Word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分析维度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1F5F9"/>
                </a:solidFill>
                <a:latin typeface="Arial"/>
              </a:defRPr>
            </a:pPr>
            <a:r>
              <a:t>业务理解、流程设计、风险评估、战略建议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系统架构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模块分解与依赖关系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32004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Arial"/>
              </a:defRPr>
            </a:pPr>
            <a:r>
              <a:t>01  订单管理模块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处理订单创建、修改、取消等操作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Deps: 用户模块, 商品模块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32004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Arial"/>
              </a:defRPr>
            </a:pPr>
            <a:r>
              <a:t>02  支付模块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集成多种支付方式，处理支付流程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46304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463040"/>
            <a:ext cx="32004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6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Arial"/>
              </a:defRPr>
            </a:pPr>
            <a:r>
              <a:t>03  库存模块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实时库存管理，库存预警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Deps: 商品模块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93192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931920"/>
            <a:ext cx="32004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Arial"/>
              </a:defRPr>
            </a:pPr>
            <a:r>
              <a:t>04  物流模块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订单配送追踪，物流信息同步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93192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93192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Arial"/>
              </a:defRPr>
            </a:pPr>
            <a:r>
              <a:t>05  售后模块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处理退换货申请，售后服务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393192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3931920"/>
            <a:ext cx="32004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36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Arial"/>
              </a:defRPr>
            </a:pPr>
            <a:r>
              <a:t>06  数据分析模块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订单数据分析，业务报表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Deps: 订单模块, 库存模块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业务流程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标准操作流程与责任人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84048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179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813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用户下单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1907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5087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SLA: 24h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1907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→ 订单审核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1847088"/>
            <a:ext cx="13716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103120"/>
            <a:ext cx="384048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15798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1214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订单审核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35915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审核员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488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SLA: 1h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5915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→ 库存检查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2487168"/>
            <a:ext cx="13716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2743200"/>
            <a:ext cx="384048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79806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761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库存检查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99923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7889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SLA: 0.5h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99923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→ 支付处理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3127248"/>
            <a:ext cx="13716" cy="2560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3383280"/>
            <a:ext cx="384048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43814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40156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支付处理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63931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支付系统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4290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SLA: 0.25h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63931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→ 发货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3767328"/>
            <a:ext cx="13716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" y="4023360"/>
            <a:ext cx="384048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07822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04164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发货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427939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仓库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069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SLA: 4h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27939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→ 配送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4407408"/>
            <a:ext cx="13716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" y="4663440"/>
            <a:ext cx="384048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7183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46817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配送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491947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物流商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7091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SLA: 48h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491947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→ 签收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7280" y="5047488"/>
            <a:ext cx="13716" cy="2560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4400" y="5303520"/>
            <a:ext cx="384048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35838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53218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签收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3040" y="555955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53492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SLA: 72h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555955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97280" y="5687568"/>
            <a:ext cx="13716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4400" y="5943600"/>
            <a:ext cx="384048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599846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63040" y="59618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完成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63040" y="619963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619963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可量化指标与目标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23774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订单处理时长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  <a:latin typeface="Arial"/>
              </a:defRPr>
            </a:pPr>
            <a:r>
              <a:t>2小时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公式: 完成时间 - 创建时间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463040"/>
            <a:ext cx="23774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订单准确率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B5CF6"/>
                </a:solidFill>
                <a:latin typeface="Arial"/>
              </a:defRPr>
            </a:pPr>
            <a:r>
              <a:t>99.5%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公式: 准确订单数 / 总订单数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23774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库存周转率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2D3EE"/>
                </a:solidFill>
                <a:latin typeface="Arial"/>
              </a:defRPr>
            </a:pPr>
            <a:r>
              <a:t>8次/月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公式: 出库量 / 平均库存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1463040"/>
            <a:ext cx="23774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客户满意度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  <a:latin typeface="Arial"/>
              </a:defRPr>
            </a:pPr>
            <a:r>
              <a:t>95%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公式: 满意评价数 / 总评价数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931920"/>
            <a:ext cx="23774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069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退货率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389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  <a:latin typeface="Arial"/>
              </a:defRPr>
            </a:pPr>
            <a:r>
              <a:t>&lt;3%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公式: 退货订单数 / 总订单数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3931920"/>
            <a:ext cx="23774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4069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支付成功率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389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B5CF6"/>
                </a:solidFill>
                <a:latin typeface="Arial"/>
              </a:defRPr>
            </a:pPr>
            <a:r>
              <a:t>99%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公式: 成功支付数 / 支付请求数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风险评估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风险矩阵与应对策略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32004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[CRITICAL] 库存不足导致超卖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高并发场景下库存扣减不一致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2651760"/>
            <a:ext cx="292608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" y="2651760"/>
            <a:ext cx="2633472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F4444"/>
                </a:solidFill>
                <a:latin typeface="Arial"/>
              </a:defRPr>
            </a:pPr>
            <a:r>
              <a:t>风险评分: 9/10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应对措施: 使用分布式锁，预扣库存机制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46304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46304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[HIGH] 支付超时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第三方支付接口响应慢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2651760"/>
            <a:ext cx="292608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2651760"/>
            <a:ext cx="204825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F59E0B"/>
                </a:solidFill>
                <a:latin typeface="Arial"/>
              </a:defRPr>
            </a:pPr>
            <a:r>
              <a:t>风险评分: 7/10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应对措施: 异步处理，超时重试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146304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0" y="1463040"/>
            <a:ext cx="32004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[MEDIUM] 物流信息延迟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物流商数据同步延迟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9560" y="2651760"/>
            <a:ext cx="292608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09560" y="2651760"/>
            <a:ext cx="14630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应对措施: 定时拉取，增量更新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393192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" y="393192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[HIGH] 订单数据一致性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多渠道订单数据不一致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1560" y="5120640"/>
            <a:ext cx="292608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51560" y="5120640"/>
            <a:ext cx="2340864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F59E0B"/>
                </a:solidFill>
                <a:latin typeface="Arial"/>
              </a:defRPr>
            </a:pPr>
            <a:r>
              <a:t>风险评分: 8/10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应对措施: 统一数据中台，实时同步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393192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43400" y="3931920"/>
            <a:ext cx="32004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[MEDIUM] 系统性能瓶颈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大促期间系统响应慢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80560" y="5120640"/>
            <a:ext cx="292608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80560" y="5120640"/>
            <a:ext cx="1755648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0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风险评分: 6/10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应对措施: 缓存策略，水平扩展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0" y="393192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0" y="3931920"/>
            <a:ext cx="32004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09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[MEDIUM] 安全风险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订单数据泄露风险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09560" y="5120640"/>
            <a:ext cx="292608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909560" y="5120640"/>
            <a:ext cx="14630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09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9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应对措施: 数据加密，访问控制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投资回报分析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预期效益与成本节约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237744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引入分布式锁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¥30万/年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投入 ¥5.0万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463040"/>
            <a:ext cx="237744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异步支付处理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¥20万/年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投入 ¥3.0万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237744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智能库存预警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¥25万/年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投入 ¥4.0万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1463040"/>
            <a:ext cx="237744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实时数据同步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¥35万/年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投入 ¥6.0万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657600"/>
            <a:ext cx="10362895" cy="2560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74903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年度预期效益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069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1F5F9"/>
                </a:solidFill>
                <a:latin typeface="Arial"/>
              </a:defRPr>
            </a:pPr>
            <a:r>
              <a:t>指标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Arial"/>
              </a:defRPr>
            </a:pPr>
            <a:r>
              <a:t>当前状态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Arial"/>
              </a:defRPr>
            </a:pPr>
            <a:r>
              <a:t>目标状态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Arial"/>
              </a:defRPr>
            </a:pPr>
            <a:r>
              <a:t>改善幅度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3616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处理时长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4.2小时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1.8小时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-57%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6542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人工审核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-60%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94690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错误率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3.2%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1.1%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-65%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2395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人员利用率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68%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+24%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实施路线图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分阶段交付计划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1737360" y="1463040"/>
            <a:ext cx="640080" cy="640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第一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737360"/>
            <a:ext cx="228600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286000"/>
            <a:ext cx="2377440" cy="3474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基础架构  0-4周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核心模块开发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数据库设计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API接口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463040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第二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737360"/>
            <a:ext cx="228600" cy="137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0440" y="2286000"/>
            <a:ext cx="2377440" cy="3474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Arial"/>
              </a:defRPr>
            </a:pPr>
            <a:r>
              <a:t>核心功能  4-8周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订单流程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支付集成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库存管理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1463040"/>
            <a:ext cx="640080" cy="6400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第三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286000"/>
            <a:ext cx="2377440" cy="3474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EE"/>
                </a:solidFill>
                <a:latin typeface="Arial"/>
              </a:defRPr>
            </a:pPr>
            <a:r>
              <a:t>优化完善  8-12周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性能优化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安全加固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数据分析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rial"/>
              </a:defRPr>
            </a:pPr>
            <a:r>
              <a:t>感谢您的关注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4A3B8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10362895" cy="63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rial"/>
              </a:defRPr>
            </a:pPr>
            <a:r>
              <a:t>BSC Engine · Business System 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