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1645920"/>
            <a:ext cx="3200400" cy="3474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1645920"/>
            <a:ext cx="45720" cy="347472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EDEBE8"/>
                </a:solidFill>
                <a:latin typeface="Albert Sans"/>
              </a:defRPr>
            </a:pPr>
            <a:r>
              <a:t>Business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C9A84C"/>
                </a:solidFill>
                <a:latin typeface="Albert Sans"/>
              </a:defRPr>
            </a:pPr>
            <a:r>
              <a:t>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6B66"/>
                </a:solidFill>
                <a:latin typeface="Albert Sans"/>
              </a:defRPr>
            </a:pPr>
            <a:r>
              <a:t>Business System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E9E99"/>
                </a:solidFill>
                <a:latin typeface="Albert Sans"/>
              </a:defRPr>
            </a:pPr>
            <a:r>
              <a:t>Executive Report · 03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583680"/>
            <a:ext cx="10362895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BSC Engine v7 · Impeccable Standard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DEBE8"/>
                </a:solidFill>
                <a:latin typeface="Albert Sans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6B66"/>
                </a:solidFill>
                <a:latin typeface="Albert Sans"/>
              </a:defRPr>
            </a:pPr>
            <a:r>
              <a:t>System overview and key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4C"/>
                </a:solidFill>
                <a:latin typeface="DM Mono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9A84C"/>
                </a:solidFill>
                <a:latin typeface="Albert Sans"/>
              </a:defRPr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Workflow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A9E96"/>
                </a:solidFill>
                <a:latin typeface="Albert Sans"/>
              </a:defRPr>
            </a:pPr>
            <a: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KPIs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BA6B"/>
                </a:solidFill>
                <a:latin typeface="Albert Sans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0392B"/>
                </a:solidFill>
                <a:latin typeface="Albert San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DEBE8"/>
                </a:solidFill>
                <a:latin typeface="Albert Sans"/>
              </a:defRPr>
            </a:pPr>
            <a:r>
              <a:t>Content Ingestion, AI Screening Engine, Human Review Workbench, Operations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  <a:latin typeface="Albert Sans"/>
              </a:defRPr>
            </a:pPr>
            <a:r>
              <a:t>Core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DEBE8"/>
                </a:solidFill>
                <a:latin typeface="Albert Sans"/>
              </a:defRPr>
            </a:pPr>
            <a:r>
              <a:t>1. Content Ingestion</a:t>
            </a:r>
          </a:p>
          <a:p>
            <a:pPr>
              <a:defRPr sz="1000" b="0">
                <a:solidFill>
                  <a:srgbClr val="EDEBE8"/>
                </a:solidFill>
                <a:latin typeface="Albert Sans"/>
              </a:defRPr>
            </a:pPr>
            <a:r>
              <a:t>2. AI Screening Engine</a:t>
            </a:r>
          </a:p>
          <a:p>
            <a:pPr>
              <a:defRPr sz="1000" b="0">
                <a:solidFill>
                  <a:srgbClr val="EDEBE8"/>
                </a:solidFill>
                <a:latin typeface="Albert Sans"/>
              </a:defRPr>
            </a:pPr>
            <a:r>
              <a:t>3. Human Review Workbench</a:t>
            </a:r>
          </a:p>
          <a:p>
            <a:pPr>
              <a:defRPr sz="1000" b="0">
                <a:solidFill>
                  <a:srgbClr val="EDEBE8"/>
                </a:solidFill>
                <a:latin typeface="Albert Sans"/>
              </a:defRPr>
            </a:pPr>
            <a:r>
              <a:t>4. Operations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6B66"/>
                </a:solidFill>
                <a:latin typeface="Albert Sans"/>
              </a:defRPr>
            </a:pPr>
            <a: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DEBE8"/>
                </a:solidFill>
                <a:latin typeface="Albert Sans"/>
              </a:defRPr>
            </a:pPr>
            <a:r>
              <a:t>FastAPI + Python 3.12+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6B66"/>
                </a:solidFill>
                <a:latin typeface="Albert Sans"/>
              </a:defRPr>
            </a:pPr>
            <a:r>
              <a:t>Export Formats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DEBE8"/>
                </a:solidFill>
                <a:latin typeface="Albert Sans"/>
              </a:defRPr>
            </a:pPr>
            <a:r>
              <a:t>PPTX, XLSX, HTML, SVG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6B66"/>
                </a:solidFill>
                <a:latin typeface="Albert Sans"/>
              </a:defRPr>
            </a:pPr>
            <a:r>
              <a:t>Design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DEBE8"/>
                </a:solidFill>
                <a:latin typeface="Albert Sans"/>
              </a:defRPr>
            </a:pPr>
            <a:r>
              <a:t>neo-kinpaku | Impeccable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DEBE8"/>
                </a:solidFill>
                <a:latin typeface="Albert San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6B66"/>
                </a:solidFill>
                <a:latin typeface="Albert Sans"/>
              </a:defRPr>
            </a:pPr>
            <a:r>
              <a:t>Module decomposition and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4C"/>
                </a:solidFill>
                <a:latin typeface="DM Mono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DEBE8"/>
                </a:solidFill>
                <a:latin typeface="Albert Sans"/>
              </a:defRPr>
            </a:pPr>
            <a:r>
              <a:t>01  Content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Accepts user-submitted content via API and web upload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DEBE8"/>
                </a:solidFill>
                <a:latin typeface="Albert Sans"/>
              </a:defRPr>
            </a:pPr>
            <a:r>
              <a:t>02  AI Screening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Automated screening for sensitive words and policy violations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D4B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DEBE8"/>
                </a:solidFill>
                <a:latin typeface="Albert Sans"/>
              </a:defRPr>
            </a:pPr>
            <a:r>
              <a:t>03  Human Review Workbench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Review queue for flagged content with 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9"/>
                </a:solidFill>
                <a:latin typeface="Albert Sans"/>
              </a:defRPr>
            </a:pPr>
            <a:r>
              <a:t>Deps: {'module_name': 'ai-screening', 'type': 'process', 'required': True}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8B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DEBE8"/>
                </a:solidFill>
                <a:latin typeface="Albert Sans"/>
              </a:defRPr>
            </a:pPr>
            <a:r>
              <a:t>04  Operations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Real-time dashboards for throughput and SLA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DEBE8"/>
                </a:solidFill>
                <a:latin typeface="Albert Sans"/>
              </a:defRPr>
            </a:pPr>
            <a:r>
              <a:t>SOP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6B66"/>
                </a:solidFill>
                <a:latin typeface="Albert Sans"/>
              </a:defRPr>
            </a:pPr>
            <a:r>
              <a:t>Process nodes with ownership, SLA, and transitions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4C"/>
                </a:solidFill>
                <a:latin typeface="DM Mono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D0F"/>
                </a:solidFill>
                <a:latin typeface="Albert San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Submit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Owner: Content Creator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→ 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D0F"/>
                </a:solidFill>
                <a:latin typeface="Albert San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AI Auto-Screening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Owner: AI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9A84C"/>
                </a:solidFill>
                <a:latin typeface="Albert Sans"/>
              </a:defRPr>
            </a:pPr>
            <a:r>
              <a:t>SLA: 0.002h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→ 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D4B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D0F"/>
                </a:solidFill>
                <a:latin typeface="Albert San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Risk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Owner: AI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→ 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D4B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8B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D0F"/>
                </a:solidFill>
                <a:latin typeface="Albert San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Human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Owner: Human Reviewer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9A84C"/>
                </a:solidFill>
                <a:latin typeface="Albert Sans"/>
              </a:defRPr>
            </a:pPr>
            <a:r>
              <a:t>SLA: 24.0h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→ 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8B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D0F"/>
                </a:solidFill>
                <a:latin typeface="Albert San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Review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Owner: Human Reviewer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→ 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D0F"/>
                </a:solidFill>
                <a:latin typeface="Albert Sans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Publish Content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Owner: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→ 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D0F"/>
                </a:solidFill>
                <a:latin typeface="Albert Sans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Notify Rejection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Owner: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→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DEBE8"/>
                </a:solidFill>
                <a:latin typeface="Albert Sans"/>
              </a:defRPr>
            </a:pPr>
            <a:r>
              <a:t>KPI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6B66"/>
                </a:solidFill>
                <a:latin typeface="Albert Sans"/>
              </a:defRPr>
            </a:pPr>
            <a:r>
              <a:t>Measurable indicators with formulas and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4C"/>
                </a:solidFill>
                <a:latin typeface="DM Mono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Content Moderation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9A84C"/>
                </a:solidFill>
                <a:latin typeface="Albert Sans"/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DEBE8"/>
                </a:solidFill>
                <a:latin typeface="Albert Sans"/>
              </a:defRPr>
            </a:pPr>
            <a:r>
              <a:t>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6B66"/>
                </a:solidFill>
                <a:latin typeface="Albert Sans"/>
              </a:defRPr>
            </a:pPr>
            <a:r>
              <a:t>Risk matrix with severity, score, and mitigation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4C"/>
                </a:solidFill>
                <a:latin typeface="DM Mono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[HIGH] AI False Negatives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Harmful content passes AI undetected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24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651760"/>
            <a:ext cx="1755648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923A"/>
                </a:solidFill>
                <a:latin typeface="Albert Sans"/>
              </a:defRPr>
            </a:pPr>
            <a:r>
              <a:t>Score: 6/10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9"/>
                </a:solidFill>
                <a:latin typeface="Albert Sans"/>
              </a:defRPr>
            </a:pPr>
            <a:r>
              <a:t>Mitigation: Weekly model retraining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[MEDIUM] Reviewer Fatigue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Reviewers make errors after long shifts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24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651760"/>
            <a:ext cx="117043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9A84C"/>
                </a:solidFill>
                <a:latin typeface="Albert Sans"/>
              </a:defRPr>
            </a:pPr>
            <a:r>
              <a:t>Score: 4/10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9"/>
                </a:solidFill>
                <a:latin typeface="Albert Sans"/>
              </a:defRPr>
            </a:pPr>
            <a:r>
              <a:t>Mitigation: Mandatory breaks + rotation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[HIGH] Peak Volume Overload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Viral event exceeds capacity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24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2651760"/>
            <a:ext cx="877824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923A"/>
                </a:solidFill>
                <a:latin typeface="Albert Sans"/>
              </a:defRPr>
            </a:pPr>
            <a:r>
              <a:t>Score: 3/10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9"/>
                </a:solidFill>
                <a:latin typeface="Albert Sans"/>
              </a:defRPr>
            </a:pPr>
            <a:r>
              <a:t>Mitigation: Auto-scale reviewer 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DEBE8"/>
                </a:solidFill>
                <a:latin typeface="Albert Sans"/>
              </a:defRPr>
            </a:pPr>
            <a:r>
              <a:t>[HIGH] API Downtime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6B66"/>
                </a:solidFill>
                <a:latin typeface="Albert Sans"/>
              </a:defRPr>
            </a:pPr>
            <a:r>
              <a:t>Screening API outage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24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5120640"/>
            <a:ext cx="877824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923A"/>
                </a:solidFill>
                <a:latin typeface="Albert Sans"/>
              </a:defRPr>
            </a:pPr>
            <a:r>
              <a:t>Score: 3/10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9"/>
                </a:solidFill>
                <a:latin typeface="Albert Sans"/>
              </a:defRPr>
            </a:pPr>
            <a:r>
              <a:t>Mitigation: Multi-region failover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DEBE8"/>
                </a:solidFill>
                <a:latin typeface="Albert Sans"/>
              </a:defRPr>
            </a:pPr>
            <a:r>
              <a:t>ROI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6B66"/>
                </a:solidFill>
                <a:latin typeface="Albert Sans"/>
              </a:defRPr>
            </a:pPr>
            <a:r>
              <a:t>Projected return on investment and efficiency gains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4C"/>
                </a:solidFill>
                <a:latin typeface="DM Mono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Cost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9A84C"/>
                </a:solidFill>
                <a:latin typeface="Albert Sans"/>
              </a:defRPr>
            </a:pPr>
            <a:r>
              <a:t>35–50%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Through workflow</a:t>
            </a:r>
            <a:br/>
            <a:r>
              <a:t>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Efficiency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A9E96"/>
                </a:solidFill>
                <a:latin typeface="Albert Sans"/>
              </a:defRPr>
            </a:pPr>
            <a:r>
              <a:t>2.5×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AI-assisted</a:t>
            </a:r>
            <a:br/>
            <a:r>
              <a:t>processing speed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Quality Uplift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4BA6B"/>
                </a:solidFill>
                <a:latin typeface="Albert Sans"/>
              </a:defRPr>
            </a:pPr>
            <a:r>
              <a:t>+22%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Consistent rule</a:t>
            </a:r>
            <a:br/>
            <a:r>
              <a:t>enforcement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Time-to-Market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BC4BE"/>
                </a:solidFill>
                <a:latin typeface="Albert Sans"/>
              </a:defRPr>
            </a:pPr>
            <a:r>
              <a:t>−60%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Pre-built industry</a:t>
            </a:r>
            <a:br/>
            <a:r>
              <a:t>templates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  <a:latin typeface="Albert Sans"/>
              </a:defRPr>
            </a:pPr>
            <a:r>
              <a:t>Annual Projected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DEBE8"/>
                </a:solidFill>
                <a:latin typeface="Albert Sans"/>
              </a:defRPr>
            </a:pPr>
            <a:r>
              <a:t>Category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DEBE8"/>
                </a:solidFill>
                <a:latin typeface="Albert Sans"/>
              </a:defRPr>
            </a:pPr>
            <a:r>
              <a:t>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DEBE8"/>
                </a:solidFill>
                <a:latin typeface="Albert Sans"/>
              </a:defRPr>
            </a:pPr>
            <a:r>
              <a:t>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DEBE8"/>
                </a:solidFill>
                <a:latin typeface="Albert Sans"/>
              </a:defRPr>
            </a:pPr>
            <a:r>
              <a:t>Improvement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Processing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4.2 hrs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1.8 hrs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9A84C"/>
                </a:solidFill>
                <a:latin typeface="Albert Sans"/>
              </a:defRPr>
            </a:pPr>
            <a:r>
              <a:t>−57%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Manual Reviews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40%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9A84C"/>
                </a:solidFill>
                <a:latin typeface="Albert Sans"/>
              </a:defRPr>
            </a:pPr>
            <a:r>
              <a:t>−60%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Error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3.2%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1.1%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9A84C"/>
                </a:solidFill>
                <a:latin typeface="Albert Sans"/>
              </a:defRPr>
            </a:pPr>
            <a:r>
              <a:t>−65%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Staff Utilization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68%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92%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9A84C"/>
                </a:solidFill>
                <a:latin typeface="Albert Sans"/>
              </a:defRPr>
            </a:pPr>
            <a:r>
              <a:t>+24%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532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Monthly Cost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5532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$45K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532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$28K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532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9A84C"/>
                </a:solidFill>
                <a:latin typeface="Albert Sans"/>
              </a:defRPr>
            </a:pPr>
            <a:r>
              <a:t>−38%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DEBE8"/>
                </a:solidFill>
                <a:latin typeface="Albert Sans"/>
              </a:defRPr>
            </a:pPr>
            <a:r>
              <a:t>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6B66"/>
                </a:solidFill>
                <a:latin typeface="Albert Sans"/>
              </a:defRPr>
            </a:pPr>
            <a:r>
              <a:t>Phased delivery over 16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4C"/>
                </a:solidFill>
                <a:latin typeface="DM Mono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D0F"/>
                </a:solidFill>
                <a:latin typeface="Albert Sans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  <a:latin typeface="Albert Sans"/>
              </a:defRPr>
            </a:pPr>
            <a:r>
              <a:t>Foundation  Weeks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Core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Module scaffolding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API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753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Mock compiler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D0F"/>
                </a:solidFill>
                <a:latin typeface="Albert Sans"/>
              </a:defRPr>
            </a:pPr>
            <a: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A9E96"/>
                </a:solidFill>
                <a:latin typeface="Albert Sans"/>
              </a:defRPr>
            </a:pPr>
            <a:r>
              <a:t>Core Features  Weeks 5–8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LLM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Graph &amp;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KPI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5753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Risk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D4B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D0F"/>
                </a:solidFill>
                <a:latin typeface="Albert Sans"/>
              </a:defRPr>
            </a:pPr>
            <a: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1737360"/>
            <a:ext cx="228600" cy="13716"/>
          </a:xfrm>
          <a:prstGeom prst="rect">
            <a:avLst/>
          </a:prstGeom>
          <a:solidFill>
            <a:srgbClr val="D4B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BA6B"/>
                </a:solidFill>
                <a:latin typeface="Albert Sans"/>
              </a:defRPr>
            </a:pPr>
            <a:r>
              <a:t>Visualization  Weeks 9–12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Interactive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SOP flowchart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PPT/XLSX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5753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Decision sandbox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1463040"/>
            <a:ext cx="640080" cy="640080"/>
          </a:xfrm>
          <a:prstGeom prst="rect">
            <a:avLst/>
          </a:prstGeom>
          <a:solidFill>
            <a:srgbClr val="8B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D0F"/>
                </a:solidFill>
                <a:latin typeface="Albert Sans"/>
              </a:defRPr>
            </a:pPr>
            <a: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2286000"/>
            <a:ext cx="2377440" cy="3474720"/>
          </a:xfrm>
          <a:prstGeom prst="rect">
            <a:avLst/>
          </a:prstGeom>
          <a:solidFill>
            <a:srgbClr val="1A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C4BE"/>
                </a:solidFill>
                <a:latin typeface="Albert Sans"/>
              </a:defRPr>
            </a:pPr>
            <a:r>
              <a:t>Production  Weeks 13–16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Performance tuning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Load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Enterprise SSO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5753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6B66"/>
                </a:solidFill>
                <a:latin typeface="Albert Sans"/>
              </a:defRPr>
            </a:pPr>
            <a:r>
              <a:t>• Go-live deployment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solidFill>
            <a:srgbClr val="1A1E23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6080760"/>
            <a:ext cx="9814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A84C"/>
                </a:solidFill>
                <a:latin typeface="Albert Sans"/>
              </a:defRPr>
            </a:pPr>
            <a:r>
              <a:t>Ready to deploy in 16 weeks  ·  Contact us for a pilot engagement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1645920"/>
            <a:ext cx="3200400" cy="3474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1645920"/>
            <a:ext cx="45720" cy="347472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C9A84C"/>
                </a:solidFill>
                <a:latin typeface="Albert San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DEBE8"/>
                </a:solidFill>
                <a:latin typeface="Albert Sans"/>
              </a:defRPr>
            </a:pPr>
            <a:r>
              <a:t>Business System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6B66"/>
                </a:solidFill>
                <a:latin typeface="Albert Sans"/>
              </a:defRPr>
            </a:pPr>
            <a:r>
              <a:t>Generated by BSC Engine v7 · Impeccable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E9E99"/>
                </a:solidFill>
                <a:latin typeface="Albert Sans"/>
              </a:defRPr>
            </a:pPr>
            <a:r>
              <a:t>Lacquer &amp; Gold · neo-kinpaku Design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583680"/>
            <a:ext cx="10362895" cy="63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9"/>
                </a:solidFill>
                <a:latin typeface="Albert Sans"/>
              </a:defRPr>
            </a:pPr>
            <a:r>
              <a:t>BSC Engine v7 · Confidential · Powering executive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4C"/>
                </a:solidFill>
                <a:latin typeface="DM Mono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