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Inter"/>
              </a:defRPr>
            </a:pPr>
            <a:r>
              <a:t>d79139b9-929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4D4D2"/>
                </a:solidFill>
                <a:latin typeface="Inter"/>
              </a:defRPr>
            </a:pPr>
            <a:r>
              <a:t>Business System Blueprint  ·  Executive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37373"/>
                </a:solidFill>
                <a:latin typeface="JetBrains Mono"/>
              </a:defRPr>
            </a:pPr>
            <a:r>
              <a:t>Generated by BSC Studio  ·  1 Modules  ·  1 Processes  ·  1 KPIs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High-level overview of the business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2560320" cy="128016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37373"/>
                </a:solidFill>
                <a:latin typeface="Inter"/>
              </a:defRPr>
            </a:pPr>
            <a:r>
              <a:t>HEALTH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031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97316"/>
                </a:solidFill>
                <a:latin typeface="Inter"/>
              </a:defRPr>
            </a:pPr>
            <a:r>
              <a:t>63.8/100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1645920"/>
            <a:ext cx="2560320" cy="128016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37373"/>
                </a:solidFill>
                <a:latin typeface="Inter"/>
              </a:defRPr>
            </a:pPr>
            <a:r>
              <a:t>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2FA7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1645920"/>
            <a:ext cx="2560320" cy="128016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37373"/>
                </a:solidFill>
                <a:latin typeface="Inter"/>
              </a:defRPr>
            </a:pPr>
            <a:r>
              <a:t>PROCESSES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031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2FA7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1645920"/>
            <a:ext cx="2560320" cy="128016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37373"/>
                </a:solidFill>
                <a:latin typeface="Inter"/>
              </a:defRPr>
            </a:pPr>
            <a:r>
              <a:t>KPIs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21031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2FA7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29184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A0A0A"/>
                </a:solidFill>
                <a:latin typeface="Inter"/>
              </a:defRPr>
            </a:pPr>
            <a:r>
              <a:t>Health Status: warning</a:t>
            </a:r>
          </a:p>
          <a:p>
            <a:pPr>
              <a:spcAft>
                <a:spcPts val="600"/>
              </a:spcAft>
              <a:defRPr sz="1300">
                <a:solidFill>
                  <a:srgbClr val="0A0A0A"/>
                </a:solidFill>
                <a:latin typeface="Inter"/>
              </a:defRPr>
            </a:pPr>
            <a:r>
              <a:t>Top Bottlenecks:</a:t>
            </a:r>
          </a:p>
          <a:p>
            <a:pPr>
              <a:spcAft>
                <a:spcPts val="600"/>
              </a:spcAft>
              <a:defRPr sz="1300">
                <a:solidFill>
                  <a:srgbClr val="0A0A0A"/>
                </a:solidFill>
                <a:latin typeface="Inter"/>
              </a:defRPr>
            </a:pPr>
            <a:r>
              <a:t>  ·  {'node': 'Core Process', 'type': 'unowned_step', 'severity': 'medium', 'impact': 'Process step has no human owner assigned.', 'fix': "Assign a responsible role to 'Core Process' step."}</a:t>
            </a:r>
          </a:p>
          <a:p>
            <a:pPr>
              <a:spcAft>
                <a:spcPts val="600"/>
              </a:spcAft>
              <a:defRPr sz="1300">
                <a:solidFill>
                  <a:srgbClr val="0A0A0A"/>
                </a:solidFill>
                <a:latin typeface="Inter"/>
              </a:defRPr>
            </a:pPr>
            <a:r>
              <a:t>  ·  {'node': 'Core Process', 'type': 'dead_end', 'severity': 'low', 'impact': 'Process step has no defined next step.', 'fix': 'Define output or termination condition.'}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Business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Core business components and their functions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3200400" cy="201168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FA7"/>
                </a:solidFill>
                <a:latin typeface="JetBrains Mono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945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0A0A"/>
                </a:solidFill>
                <a:latin typeface="Inter"/>
              </a:defRPr>
            </a:pPr>
            <a:r>
              <a:t>Operator??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37373"/>
                </a:solidFill>
                <a:latin typeface="Inter"/>
              </a:defRPr>
            </a:pPr>
            <a:r>
              <a:t>Core business operator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Workflow &amp; Process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End-to-end business process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10047" y="2926080"/>
            <a:ext cx="1371600" cy="1097280"/>
          </a:xfrm>
          <a:prstGeom prst="roundRect">
            <a:avLst/>
          </a:prstGeom>
          <a:solidFill>
            <a:srgbClr val="F0F0EE"/>
          </a:solidFill>
          <a:ln w="19050">
            <a:solidFill>
              <a:srgbClr val="002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01487" y="30632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A0A0A"/>
                </a:solidFill>
                <a:latin typeface="Inter"/>
              </a:defRPr>
            </a:pPr>
            <a:r>
              <a:t>Core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01487" y="35661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37373"/>
                </a:solidFill>
                <a:latin typeface="Inter"/>
              </a:defRPr>
            </a:pPr>
            <a:r>
              <a:t>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737373"/>
                </a:solidFill>
                <a:latin typeface="Inter"/>
              </a:defRPr>
            </a:pPr>
            <a:r>
              <a:t>Key Metrics:  Efficiency: &gt;= 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KPI &amp; Metrics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Measurable performance indicators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3017520" cy="182880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783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37373"/>
                </a:solidFill>
                <a:latin typeface="Inter"/>
              </a:defRPr>
            </a:pPr>
            <a:r>
              <a:t>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945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2FA7"/>
                </a:solidFill>
                <a:latin typeface="JetBrains Mono"/>
              </a:defRPr>
            </a:pPr>
            <a:r>
              <a:t>&gt;= 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8346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37373"/>
                </a:solidFill>
                <a:latin typeface="JetBrains Mono"/>
              </a:defRPr>
            </a:pPr>
            <a:r>
              <a:t>f(x) = output/input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Risk Assessment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Risk analysis and control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645920"/>
            <a:ext cx="73152" cy="914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645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0A0A"/>
                </a:solidFill>
                <a:latin typeface="Inter"/>
              </a:defRPr>
            </a:pPr>
            <a:r>
              <a:t>Operational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97316"/>
                </a:solidFill>
                <a:latin typeface="JetBrains Mono"/>
              </a:defRPr>
            </a:pPr>
            <a:r>
              <a:t>MEDIUM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37373"/>
                </a:solidFill>
                <a:latin typeface="Inter"/>
              </a:defRPr>
            </a:pPr>
            <a:r>
              <a:t>Mitigation: 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Recommendations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Strategic recommendations for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9966960" cy="68580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FA7"/>
                </a:solidFill>
                <a:latin typeface="JetBrains Mono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755648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A0A0A"/>
                </a:solidFill>
                <a:latin typeface="Inter"/>
              </a:defRPr>
            </a:pPr>
            <a:r>
              <a:t>Improve overall business system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7556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2C55E"/>
                </a:solidFill>
                <a:latin typeface="JetBrains Mono"/>
              </a:defRPr>
            </a:pPr>
            <a:r>
              <a:t>P:critical ROI:—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560320"/>
            <a:ext cx="9966960" cy="68580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6517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FA7"/>
                </a:solidFill>
                <a:latin typeface="JetBrains Mono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670048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A0A0A"/>
                </a:solidFill>
                <a:latin typeface="Inter"/>
              </a:defRPr>
            </a:pPr>
            <a:r>
              <a:t>Resolve bottleneck: Core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6700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97316"/>
                </a:solidFill>
                <a:latin typeface="JetBrains Mono"/>
              </a:defRPr>
            </a:pPr>
            <a:r>
              <a:t>P:medium ROI:—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474720"/>
            <a:ext cx="9966960" cy="68580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5661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FA7"/>
                </a:solidFill>
                <a:latin typeface="JetBrains Mono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584448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A0A0A"/>
                </a:solidFill>
                <a:latin typeface="Inter"/>
              </a:defRPr>
            </a:pPr>
            <a:r>
              <a:t>Resolve bottleneck: Core 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5844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2C55E"/>
                </a:solidFill>
                <a:latin typeface="JetBrains Mono"/>
              </a:defRPr>
            </a:pPr>
            <a:r>
              <a:t>P:low ROI:—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