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60720" cy="6858000"/>
          </a:xfrm>
          <a:prstGeom prst="rect">
            <a:avLst/>
          </a:prstGeom>
          <a:solidFill>
            <a:srgbClr val="00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BSC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E5FF"/>
                </a:solidFill>
                <a:latin typeface="Arial"/>
              </a:defRPr>
            </a:pPr>
            <a:r>
              <a:t>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  <a:latin typeface="Microsoft YaHei"/>
              </a:defRPr>
            </a:pPr>
            <a:r>
              <a:t>AI-Powered Enterprise Intelligence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48640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EC0"/>
                </a:solidFill>
                <a:latin typeface="Microsoft YaHei"/>
              </a:defRPr>
            </a:pPr>
            <a:r>
              <a:t>Investor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8229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182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890FF"/>
                </a:solidFill>
                <a:latin typeface="Arial"/>
              </a:defRPr>
            </a:pPr>
            <a:r>
              <a:t>BSC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1529"/>
                </a:solidFill>
                <a:latin typeface="Microsoft YaHei"/>
              </a:defRPr>
            </a:pPr>
            <a:r>
              <a:t>Business documents are silos of unstructured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PRDs, BRDs, RFPs, meeting notes - enterprises drown in documents containing critical business intelligence. Extracting structure, KPIs, workflows, and risks is manual, slow, and error-prone.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828800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Microsoft YaHei"/>
              </a:defRPr>
            </a:pPr>
            <a:r>
              <a:t>Days to weeks for manual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468880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468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Microsoft YaHei"/>
              </a:defRPr>
            </a:pPr>
            <a:r>
              <a:t>No standardized business 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108960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108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Microsoft YaHei"/>
              </a:defRPr>
            </a:pPr>
            <a:r>
              <a:t>Reports depend on individual consultants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749039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74903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Microsoft YaHei"/>
              </a:defRPr>
            </a:pPr>
            <a:r>
              <a:t>Insights lost between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8229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182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890FF"/>
                </a:solidFill>
                <a:latin typeface="Arial"/>
              </a:defRPr>
            </a:pPr>
            <a:r>
              <a:t>BSC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1529"/>
                </a:solidFill>
                <a:latin typeface="Microsoft YaHei"/>
              </a:defRPr>
            </a:pPr>
            <a:r>
              <a:t>One input. Automatic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Input any business document and receive a complete, consulting-grade business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926080"/>
            <a:ext cx="2011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2926080"/>
            <a:ext cx="201168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23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PRD / BRD /</a:t>
            </a:r>
            <a:br/>
            <a:r>
              <a:t>Meeting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90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926080"/>
            <a:ext cx="2011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2926080"/>
            <a:ext cx="201168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Compile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023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Business</a:t>
            </a:r>
            <a:br/>
            <a:r>
              <a:t>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90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926080"/>
            <a:ext cx="2011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2926080"/>
            <a:ext cx="201168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023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KPI System</a:t>
            </a:r>
            <a:br/>
            <a:r>
              <a:t>+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7490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90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926080"/>
            <a:ext cx="2011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926080"/>
            <a:ext cx="2011680" cy="54864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5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023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PPT + HTML</a:t>
            </a:r>
            <a:br/>
            <a: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8229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182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890FF"/>
                </a:solidFill>
                <a:latin typeface="Arial"/>
              </a:defRPr>
            </a:pPr>
            <a:r>
              <a:t>BSC Studio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463040"/>
            <a:ext cx="10058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463040"/>
            <a:ext cx="54864" cy="86868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Input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Arial"/>
              </a:defRPr>
            </a:pPr>
            <a:r>
              <a:t>PRD / BRD / RFP / Meeting Notes /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514600"/>
            <a:ext cx="10058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514600"/>
            <a:ext cx="54864" cy="8686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Microsoft YaHei"/>
              </a:defRPr>
            </a:pPr>
            <a:r>
              <a:t>AI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Arial"/>
              </a:defRPr>
            </a:pPr>
            <a:r>
              <a:t>Intent Detection &gt; Goal Routing &gt; Agent Dispatch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566160"/>
            <a:ext cx="10058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566160"/>
            <a:ext cx="54864" cy="8686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Microsoft YaHei"/>
              </a:defRPr>
            </a:pPr>
            <a:r>
              <a:t>5-Agent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Arial"/>
              </a:defRPr>
            </a:pPr>
            <a:r>
              <a:t>Compiler &gt; Knowledge &gt; Graph &gt; Decision &gt; Asset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617720"/>
            <a:ext cx="10058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61772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709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Output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Arial"/>
              </a:defRPr>
            </a:pPr>
            <a:r>
              <a:t>PPT / HTML Dashboard / PDF / Word / JSON / XLSX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76072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5760720"/>
            <a:ext cx="228600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897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API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90FF"/>
                </a:solidFill>
                <a:latin typeface="Arial"/>
              </a:defRPr>
            </a:pPr>
            <a:r>
              <a:t>&lt;100ms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576072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0" y="576072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5897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Agent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6126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~70ms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576072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5760720"/>
            <a:ext cx="22860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897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PPT 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6126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FF"/>
                </a:solidFill>
                <a:latin typeface="Arial"/>
              </a:defRPr>
            </a:pPr>
            <a:r>
              <a:t>~40ms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5760720"/>
            <a:ext cx="2286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576072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5897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Tests Passed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6126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B981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8229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182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Agent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890FF"/>
                </a:solidFill>
                <a:latin typeface="Arial"/>
              </a:defRPr>
            </a:pPr>
            <a:r>
              <a:t>BSC Studio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54864" cy="7315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01  Compiler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Parses documents, extracts business structure, modules, 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Arial"/>
              </a:defRPr>
            </a:pPr>
            <a:r>
              <a:t>1.2ms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286000"/>
            <a:ext cx="54864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02  Knowledge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51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Builds enterprise knowledge graph with versioning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Arial"/>
              </a:defRPr>
            </a:pPr>
            <a:r>
              <a:t>50ms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200400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03  Graph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Constructs business relationship graph (nodes + edges)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337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Arial"/>
              </a:defRPr>
            </a:pPr>
            <a:r>
              <a:t>0.3ms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114800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04  Decision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80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Health scoring, bottleneck analysis, risk heatmaps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251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Arial"/>
              </a:defRPr>
            </a:pPr>
            <a:r>
              <a:t>0.1ms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5029200"/>
            <a:ext cx="54864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1529"/>
                </a:solidFill>
                <a:latin typeface="Microsoft YaHei"/>
              </a:defRPr>
            </a:pPr>
            <a:r>
              <a:t>05  Asset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394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Generates PPT, HTML Dashboard, PDF, Word, Excel, Bid Proposals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166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E5FF"/>
                </a:solidFill>
                <a:latin typeface="Arial"/>
              </a:defRPr>
            </a:pPr>
            <a:r>
              <a:t>125ms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Key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2743200" cy="164592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011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E5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Intent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Arial"/>
              </a:defRPr>
            </a:pPr>
            <a:r>
              <a:t>40+ keywords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2743200" cy="164592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011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E5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Arial"/>
              </a:defRPr>
            </a:pPr>
            <a:r>
              <a:t>~70ms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828800"/>
            <a:ext cx="2743200" cy="164592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0116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E5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Industry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Arial"/>
              </a:defRPr>
            </a:pPr>
            <a:r>
              <a:t>Content to Fintech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931920"/>
            <a:ext cx="2743200" cy="164592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114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E5FF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46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Arial"/>
              </a:defRPr>
            </a:pPr>
            <a:r>
              <a:t>100% pass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931920"/>
            <a:ext cx="2743200" cy="164592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114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E5FF"/>
                </a:solidFill>
                <a:latin typeface="Arial"/>
              </a:defRPr>
            </a:pPr>
            <a:r>
              <a:t>39KB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846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PPT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Arial"/>
              </a:defRPr>
            </a:pPr>
            <a:r>
              <a:t>7-slide deck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3931920"/>
            <a:ext cx="2743200" cy="1645920"/>
          </a:xfrm>
          <a:prstGeom prst="rect">
            <a:avLst/>
          </a:prstGeom>
          <a:solidFill>
            <a:srgbClr val="0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1148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E5FF"/>
                </a:solidFill>
                <a:latin typeface="Arial"/>
              </a:defRPr>
            </a:pPr>
            <a:r>
              <a:t>74KB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846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HTML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Arial"/>
              </a:defRPr>
            </a:pPr>
            <a:r>
              <a:t>Interactive + Chart.js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8229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182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Competitive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890FF"/>
                </a:solidFill>
                <a:latin typeface="Arial"/>
              </a:defRPr>
            </a:pPr>
            <a:r>
              <a:t>BSC Studio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280160"/>
            <a:ext cx="10058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280160"/>
            <a:ext cx="54864" cy="10058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371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1529"/>
                </a:solidFill>
                <a:latin typeface="Microsoft YaHei"/>
              </a:defRPr>
            </a:pPr>
            <a:r>
              <a:t>One-Click Simplicity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Plain language input. Zero learning curve. System handles classification, compilation, analysis, and output generation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560320"/>
            <a:ext cx="10058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560320"/>
            <a:ext cx="54864" cy="10058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651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1529"/>
                </a:solidFill>
                <a:latin typeface="Microsoft YaHei"/>
              </a:defRPr>
            </a:pPr>
            <a:r>
              <a:t>Consulting-Grade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PPT decks follow McKinsey-style narrative structure. Reports read like top-tier consulting deliverables, not machine-generated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40479"/>
            <a:ext cx="10058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840479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93191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1529"/>
                </a:solidFill>
                <a:latin typeface="Microsoft YaHei"/>
              </a:defRPr>
            </a:pPr>
            <a:r>
              <a:t>Modular Agent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976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Five independent agents with fail-safe execution. Each agent debuggable, testable, and upgradeable independently.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120640"/>
            <a:ext cx="10058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12064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2120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1529"/>
                </a:solidFill>
                <a:latin typeface="Microsoft YaHei"/>
              </a:defRPr>
            </a:pPr>
            <a:r>
              <a:t>Enterprise Knowledge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Cross-project knowledge reuse. Past analyses inform future projects. Version-controlled intelligence that compounds over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8229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182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890FF"/>
                </a:solidFill>
                <a:latin typeface="Arial"/>
              </a:defRPr>
            </a:pPr>
            <a:r>
              <a:t>BSC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1529"/>
                </a:solidFill>
                <a:latin typeface="Microsoft YaHei"/>
              </a:defRPr>
            </a:pPr>
            <a:r>
              <a:t>The enterprise business intelligence market is growing rapidly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60320"/>
            <a:ext cx="9601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560320"/>
            <a:ext cx="54864" cy="7772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606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1529"/>
                </a:solidFill>
                <a:latin typeface="Microsoft YaHei"/>
              </a:defRPr>
            </a:pPr>
            <a:r>
              <a:t>Enterprise Consultants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7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Automate proposals. Reduce turnaround from weeks to minutes.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890FF"/>
                </a:solidFill>
                <a:latin typeface="Arial"/>
              </a:defRPr>
            </a:pPr>
            <a:r>
              <a:t>60%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566160"/>
            <a:ext cx="9601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566160"/>
            <a:ext cx="54864" cy="7772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6118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1529"/>
                </a:solidFill>
                <a:latin typeface="Microsoft YaHei"/>
              </a:defRPr>
            </a:pPr>
            <a:r>
              <a:t>Bid / RFP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31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Auto-extract RFP structure, generate competitive bid proposals.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657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890FF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72000"/>
            <a:ext cx="9601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572000"/>
            <a:ext cx="54864" cy="7772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1529"/>
                </a:solidFill>
                <a:latin typeface="Microsoft YaHei"/>
              </a:defRPr>
            </a:pPr>
            <a:r>
              <a:t>Operations Managers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377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Convert SOPs into live dashboards with KPI monitoring and risk alerts.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663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890FF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577840"/>
            <a:ext cx="96012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5577840"/>
            <a:ext cx="54864" cy="77724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6235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1529"/>
                </a:solidFill>
                <a:latin typeface="Microsoft YaHei"/>
              </a:defRPr>
            </a:pPr>
            <a:r>
              <a:t>Product Managers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Turn PRDs into structured specifications with auto-generated metrics.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66927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1890FF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8229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182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Product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890FF"/>
                </a:solidFill>
                <a:latin typeface="Arial"/>
              </a:defRPr>
            </a:pPr>
            <a:r>
              <a:t>BSC Studio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200400"/>
            <a:ext cx="2926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3017520"/>
            <a:ext cx="182880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1828800"/>
            <a:ext cx="29260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1828800"/>
            <a:ext cx="29260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Q3 2026 -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Core compiler, 5-agent pipeline, REST API, SaaS UI, PPT + HTML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200400"/>
            <a:ext cx="2926080" cy="36576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3017520"/>
            <a:ext cx="182880" cy="18288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828800"/>
            <a:ext cx="29260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1828800"/>
            <a:ext cx="2926080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90FF"/>
                </a:solidFill>
                <a:latin typeface="Microsoft YaHei"/>
              </a:defRPr>
            </a:pPr>
            <a:r>
              <a:t>Q4 2026 - v1.0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Multi-tenancy, auth, project mgmt, template library, knowledge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200400"/>
            <a:ext cx="29260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3017520"/>
            <a:ext cx="182880" cy="1828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1828800"/>
            <a:ext cx="29260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828800"/>
            <a:ext cx="292608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Microsoft YaHei"/>
              </a:defRPr>
            </a:pPr>
            <a:r>
              <a:t>Q1 2027 -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2860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Collaborative editing, custom model fine-tuning, enterprise SSO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0" cy="82296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" y="182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5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82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1890FF"/>
                </a:solidFill>
                <a:latin typeface="Arial"/>
              </a:defRPr>
            </a:pPr>
            <a:r>
              <a:t>BSC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1529"/>
                </a:solidFill>
                <a:latin typeface="Microsoft YaHei"/>
              </a:defRPr>
            </a:pPr>
            <a:r>
              <a:t>Full-stack AI engineering team with enterprise SaaS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743200"/>
            <a:ext cx="2194560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11680" y="3017520"/>
            <a:ext cx="914400" cy="91440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1529"/>
                </a:solidFill>
                <a:latin typeface="Microsoft YaHei"/>
              </a:defRPr>
            </a:pPr>
            <a:r>
              <a:t>AI/ML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74320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2743200"/>
            <a:ext cx="2194560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0" y="3017520"/>
            <a:ext cx="914400" cy="91440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59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1529"/>
                </a:solidFill>
                <a:latin typeface="Microsoft YaHei"/>
              </a:defRPr>
            </a:pPr>
            <a:r>
              <a:t>Full-stack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59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74320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2743200"/>
            <a:ext cx="2194560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0" y="3017520"/>
            <a:ext cx="914400" cy="91440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1529"/>
                </a:solidFill>
                <a:latin typeface="Microsoft YaHei"/>
              </a:defRPr>
            </a:pPr>
            <a:r>
              <a:t>Product 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59" y="274320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59" y="2743200"/>
            <a:ext cx="2194560" cy="457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92639" y="3017520"/>
            <a:ext cx="914400" cy="91440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3999" y="4114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1529"/>
                </a:solidFill>
                <a:latin typeface="Microsoft YaHei"/>
              </a:defRPr>
            </a:pPr>
            <a:r>
              <a:t>Business Analyst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99" y="4572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Investment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7315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4320540" cy="731520"/>
          </a:xfrm>
          <a:prstGeom prst="rect">
            <a:avLst/>
          </a:prstGeom>
          <a:solidFill>
            <a:srgbClr val="18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Core platform development, multi-tenancy, enterprise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423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E5FF"/>
                </a:solidFill>
                <a:latin typeface="Arial"/>
              </a:defRPr>
            </a:pPr>
            <a:r>
              <a:t>45%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91840"/>
            <a:ext cx="2880360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Go-to-Market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Sales, marketing, partnerships,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3429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E5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14401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AI/ML R&amp;D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63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Model fine-tuning, accuracy, industry specialization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4434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E5FF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03520"/>
            <a:ext cx="9601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49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692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Infrastructure, legal,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5440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00E5FF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Arial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37760" y="2011680"/>
            <a:ext cx="2286000" cy="2286000"/>
          </a:xfrm>
          <a:prstGeom prst="ellipse">
            <a:avLst/>
          </a:prstGeom>
          <a:noFill/>
          <a:ln w="6350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37760" y="2011680"/>
            <a:ext cx="2560320" cy="2560320"/>
          </a:xfrm>
          <a:prstGeom prst="ellipse">
            <a:avLst/>
          </a:prstGeom>
          <a:noFill/>
          <a:ln w="6350">
            <a:solidFill>
              <a:srgbClr val="18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937760" y="2011680"/>
            <a:ext cx="2834640" cy="2834640"/>
          </a:xfrm>
          <a:prstGeom prst="ellipse">
            <a:avLst/>
          </a:prstGeom>
          <a:noFill/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E5FF"/>
                </a:solidFill>
                <a:latin typeface="Arial"/>
              </a:defRPr>
            </a:pPr>
            <a:r>
              <a:t>BSC Studio · Business System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Arial"/>
              </a:defRPr>
            </a:pPr>
            <a:r>
              <a:t>contact@bscstudio.com  |  bscstudio.com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