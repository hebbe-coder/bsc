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14400" y="-914400"/>
            <a:ext cx="3657600" cy="3657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01200" y="4114800"/>
            <a:ext cx="3200400" cy="32004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4864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B2BEC3"/>
                </a:solidFill>
                <a:latin typeface="Segoe UI"/>
              </a:defRPr>
            </a:pPr>
            <a:r>
              <a:t>BSC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Business System Compiler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2E86AB"/>
                </a:solidFill>
                <a:latin typeface="Segoe UI"/>
              </a:defRPr>
            </a:pPr>
            <a:r>
              <a:t>Content Moderation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B2BEC3"/>
                </a:solidFill>
                <a:latin typeface="Segoe UI"/>
              </a:defRPr>
            </a:pPr>
            <a:r>
              <a:t>Domain: content-safety</a:t>
            </a:r>
          </a:p>
          <a:p>
            <a:pPr>
              <a:spcAft>
                <a:spcPts val="400"/>
              </a:spcAft>
              <a:defRPr sz="1100" b="0">
                <a:solidFill>
                  <a:srgbClr val="B2BEC3"/>
                </a:solidFill>
                <a:latin typeface="Segoe UI"/>
              </a:defRPr>
            </a:pPr>
            <a:r>
              <a:t>Generated: 2026-07-03 21:58</a:t>
            </a:r>
          </a:p>
          <a:p>
            <a:pPr>
              <a:spcAft>
                <a:spcPts val="400"/>
              </a:spcAft>
              <a:defRPr sz="1100" b="0">
                <a:solidFill>
                  <a:srgbClr val="B2BEC3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636E72"/>
                </a:solidFill>
                <a:latin typeface="Segoe UI"/>
              </a:defRPr>
            </a:pPr>
            <a:r>
              <a:t>Confidential — For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2BEC3"/>
                </a:solidFill>
                <a:latin typeface="Segoe UI"/>
              </a:defRPr>
            </a:pPr>
            <a:r>
              <a:t>Key metrics &amp; business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B2BEC3"/>
                </a:solidFill>
                <a:latin typeface="Segoe UI"/>
              </a:defRPr>
            </a:pPr>
            <a:r>
              <a:t>BSC · Business System Compiler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B2BEC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24688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37160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Business Modules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627632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E86AB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280160"/>
            <a:ext cx="24688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37160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Process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1627632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3A5C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280160"/>
            <a:ext cx="24688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37160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KPIs Tracked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627632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CA02C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280160"/>
            <a:ext cx="24688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137160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Risks Identified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1627632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E83151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560320"/>
            <a:ext cx="10728655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2651760"/>
            <a:ext cx="1036289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636E72"/>
                </a:solidFill>
                <a:latin typeface="Segoe UI"/>
              </a:defRPr>
            </a:pPr>
            <a:r>
              <a:t>Business Objective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880360"/>
            <a:ext cx="103628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B3A5C"/>
                </a:solidFill>
                <a:latin typeface="Segoe UI"/>
              </a:defRPr>
            </a:pPr>
            <a:r>
              <a:t>Content Moderation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6576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B3A5C"/>
                </a:solidFill>
                <a:latin typeface="Segoe UI"/>
              </a:defRPr>
            </a:pPr>
            <a:r>
              <a:t>Modules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977640"/>
            <a:ext cx="365760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160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D3436"/>
                </a:solidFill>
                <a:latin typeface="Segoe UI"/>
              </a:defRPr>
            </a:pPr>
            <a:r>
              <a:t>▸ Content Ingestion  —  Platform Team</a:t>
            </a:r>
          </a:p>
          <a:p>
            <a:pPr>
              <a:spcAft>
                <a:spcPts val="400"/>
              </a:spcAft>
              <a:defRPr sz="1100" b="0">
                <a:solidFill>
                  <a:srgbClr val="2D3436"/>
                </a:solidFill>
                <a:latin typeface="Segoe UI"/>
              </a:defRPr>
            </a:pPr>
            <a:r>
              <a:t>▸ AI Screening Engine  —  ML Team</a:t>
            </a:r>
          </a:p>
          <a:p>
            <a:pPr>
              <a:spcAft>
                <a:spcPts val="400"/>
              </a:spcAft>
              <a:defRPr sz="1100" b="0">
                <a:solidFill>
                  <a:srgbClr val="2D3436"/>
                </a:solidFill>
                <a:latin typeface="Segoe UI"/>
              </a:defRPr>
            </a:pPr>
            <a:r>
              <a:t>▸ Human Review Workbench  —  Operations</a:t>
            </a:r>
          </a:p>
          <a:p>
            <a:pPr>
              <a:spcAft>
                <a:spcPts val="400"/>
              </a:spcAft>
              <a:defRPr sz="1100" b="0">
                <a:solidFill>
                  <a:srgbClr val="2D3436"/>
                </a:solidFill>
                <a:latin typeface="Segoe UI"/>
              </a:defRPr>
            </a:pPr>
            <a:r>
              <a:t>▸ Operations Analytics  —  Data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6576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B3A5C"/>
                </a:solidFill>
                <a:latin typeface="Segoe UI"/>
              </a:defRPr>
            </a:pPr>
            <a:r>
              <a:t>Process Flow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3977640"/>
            <a:ext cx="365760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160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D3436"/>
                </a:solidFill>
                <a:latin typeface="Segoe UI"/>
              </a:defRPr>
            </a:pPr>
            <a:r>
              <a:t>Submit Content → </a:t>
            </a:r>
          </a:p>
          <a:p>
            <a:pPr>
              <a:spcAft>
                <a:spcPts val="400"/>
              </a:spcAft>
              <a:defRPr sz="1000" b="0">
                <a:solidFill>
                  <a:srgbClr val="2D3436"/>
                </a:solidFill>
                <a:latin typeface="Segoe UI"/>
              </a:defRPr>
            </a:pPr>
            <a:r>
              <a:t>AI Auto-Screening → </a:t>
            </a:r>
          </a:p>
          <a:p>
            <a:pPr>
              <a:spcAft>
                <a:spcPts val="400"/>
              </a:spcAft>
              <a:defRPr sz="1000" b="0">
                <a:solidFill>
                  <a:srgbClr val="2D3436"/>
                </a:solidFill>
                <a:latin typeface="Segoe UI"/>
              </a:defRPr>
            </a:pPr>
            <a:r>
              <a:t>Risk Classification → </a:t>
            </a:r>
          </a:p>
          <a:p>
            <a:pPr>
              <a:spcAft>
                <a:spcPts val="400"/>
              </a:spcAft>
              <a:defRPr sz="1000" b="0">
                <a:solidFill>
                  <a:srgbClr val="2D3436"/>
                </a:solidFill>
                <a:latin typeface="Segoe UI"/>
              </a:defRPr>
            </a:pPr>
            <a:r>
              <a:t>Human Review → </a:t>
            </a:r>
          </a:p>
          <a:p>
            <a:pPr>
              <a:spcAft>
                <a:spcPts val="400"/>
              </a:spcAft>
              <a:defRPr sz="1000" b="0">
                <a:solidFill>
                  <a:srgbClr val="2D3436"/>
                </a:solidFill>
                <a:latin typeface="Segoe UI"/>
              </a:defRPr>
            </a:pPr>
            <a:r>
              <a:t>Review Decision → </a:t>
            </a:r>
          </a:p>
          <a:p>
            <a:pPr>
              <a:spcAft>
                <a:spcPts val="400"/>
              </a:spcAft>
              <a:defRPr sz="1000" b="0">
                <a:solidFill>
                  <a:srgbClr val="2D3436"/>
                </a:solidFill>
                <a:latin typeface="Segoe UI"/>
              </a:defRPr>
            </a:pPr>
            <a:r>
              <a:t>Publish Content → </a:t>
            </a:r>
          </a:p>
          <a:p>
            <a:pPr>
              <a:spcAft>
                <a:spcPts val="400"/>
              </a:spcAft>
              <a:defRPr sz="1000" b="0">
                <a:solidFill>
                  <a:srgbClr val="2D3436"/>
                </a:solidFill>
                <a:latin typeface="Segoe UI"/>
              </a:defRPr>
            </a:pPr>
            <a:r>
              <a:t>Notify Rejection 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Business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2BEC3"/>
                </a:solidFill>
                <a:latin typeface="Segoe UI"/>
              </a:defRPr>
            </a:pPr>
            <a:r>
              <a:t>System component breakdown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B2BEC3"/>
                </a:solidFill>
                <a:latin typeface="Segoe UI"/>
              </a:defRPr>
            </a:pPr>
            <a:r>
              <a:t>BSC · Business System Compiler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B2BEC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54864" cy="2103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41732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B3A5C"/>
                </a:solidFill>
                <a:latin typeface="Segoe UI"/>
              </a:defRPr>
            </a:pPr>
            <a:r>
              <a:t>Content Ingestion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783080"/>
            <a:ext cx="4754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Segoe UI"/>
              </a:defRPr>
            </a:pPr>
            <a:r>
              <a:t>Accepts user-submitted content via API and web 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78892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Owner: Platform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743200"/>
            <a:ext cx="1097280" cy="32004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770632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280160"/>
            <a:ext cx="521208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280160"/>
            <a:ext cx="54864" cy="2103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41732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B3A5C"/>
                </a:solidFill>
                <a:latin typeface="Segoe UI"/>
              </a:defRPr>
            </a:pPr>
            <a:r>
              <a:t>AI Screening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783080"/>
            <a:ext cx="4754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Segoe UI"/>
              </a:defRPr>
            </a:pPr>
            <a:r>
              <a:t>Automated screening for sensitive words and policy violations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78892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Owner: ML Team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0" y="2743200"/>
            <a:ext cx="1097280" cy="320040"/>
          </a:xfrm>
          <a:prstGeom prst="roundRect">
            <a:avLst/>
          </a:prstGeom>
          <a:solidFill>
            <a:srgbClr val="E83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0" y="2770632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657600"/>
            <a:ext cx="521208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657600"/>
            <a:ext cx="54864" cy="210312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79476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B3A5C"/>
                </a:solidFill>
                <a:latin typeface="Segoe UI"/>
              </a:defRPr>
            </a:pPr>
            <a:r>
              <a:t>Human Review Workbench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160520"/>
            <a:ext cx="4754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Segoe UI"/>
              </a:defRPr>
            </a:pPr>
            <a:r>
              <a:t>Review queue for flagged content with audit 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16636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Owner: Operations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5120640"/>
            <a:ext cx="1097280" cy="32004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5148072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440680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B2BEC3"/>
                </a:solidFill>
                <a:latin typeface="Segoe UI"/>
              </a:defRPr>
            </a:pPr>
            <a:r>
              <a:t>Depends on: ai-screening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657600"/>
            <a:ext cx="521208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3657600"/>
            <a:ext cx="54864" cy="2103120"/>
          </a:xfrm>
          <a:prstGeom prst="rect">
            <a:avLst/>
          </a:prstGeom>
          <a:solidFill>
            <a:srgbClr val="946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379476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B3A5C"/>
                </a:solidFill>
                <a:latin typeface="Segoe UI"/>
              </a:defRPr>
            </a:pPr>
            <a:r>
              <a:t>Operations Analytics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160520"/>
            <a:ext cx="4754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Segoe UI"/>
              </a:defRPr>
            </a:pPr>
            <a:r>
              <a:t>Real-time dashboards for throughput and SLA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516636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Owner: Data Team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41280" y="5120640"/>
            <a:ext cx="1097280" cy="3200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87000" y="5148072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MEDIUM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SOP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2BEC3"/>
                </a:solidFill>
                <a:latin typeface="Segoe UI"/>
              </a:defRPr>
            </a:pPr>
            <a:r>
              <a:t>End-to-end process with roles &amp; SLA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B2BEC3"/>
                </a:solidFill>
                <a:latin typeface="Segoe UI"/>
              </a:defRPr>
            </a:pPr>
            <a:r>
              <a:t>BSC · Business System Compiler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B2BEC3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1219156" cy="1645920"/>
          </a:xfrm>
          <a:prstGeom prst="round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103627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Submit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10362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Content Creator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87836" y="3182112"/>
            <a:ext cx="228600" cy="36576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43284" y="3145536"/>
            <a:ext cx="73152" cy="109728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316436" y="2377440"/>
            <a:ext cx="1219156" cy="16459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7876" y="2560320"/>
            <a:ext cx="103627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AI Auto-Screening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7876" y="3108960"/>
            <a:ext cx="10362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AI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7876" y="3566160"/>
            <a:ext cx="103627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FFFFFF"/>
                </a:solidFill>
                <a:latin typeface="Segoe UI"/>
              </a:defRPr>
            </a:pPr>
            <a:r>
              <a:t>SLA: 0.002h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2752" y="3182112"/>
            <a:ext cx="228600" cy="36576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28200" y="3145536"/>
            <a:ext cx="73152" cy="109728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3901352" y="2377440"/>
            <a:ext cx="1219156" cy="1645920"/>
          </a:xfrm>
          <a:prstGeom prst="diamond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92792" y="2560320"/>
            <a:ext cx="103627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Risk Classification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92792" y="3108960"/>
            <a:ext cx="10362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AI System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57669" y="3182112"/>
            <a:ext cx="228600" cy="36576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13117" y="3145536"/>
            <a:ext cx="73152" cy="109728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269" y="2377440"/>
            <a:ext cx="1219156" cy="16459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709" y="2560320"/>
            <a:ext cx="103627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Human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709" y="3108960"/>
            <a:ext cx="10362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Human Reviewer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709" y="3566160"/>
            <a:ext cx="103627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FFFFFF"/>
                </a:solidFill>
                <a:latin typeface="Segoe UI"/>
              </a:defRPr>
            </a:pPr>
            <a:r>
              <a:t>SLA: 24.0h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42585" y="3182112"/>
            <a:ext cx="228600" cy="36576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98033" y="3145536"/>
            <a:ext cx="73152" cy="109728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iamond 30"/>
          <p:cNvSpPr/>
          <p:nvPr/>
        </p:nvSpPr>
        <p:spPr>
          <a:xfrm>
            <a:off x="7071185" y="2377440"/>
            <a:ext cx="1219156" cy="1645920"/>
          </a:xfrm>
          <a:prstGeom prst="diamond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62625" y="2560320"/>
            <a:ext cx="103627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Review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2625" y="3108960"/>
            <a:ext cx="10362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Human Reviewer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27502" y="3182112"/>
            <a:ext cx="228600" cy="36576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82950" y="3145536"/>
            <a:ext cx="73152" cy="109728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656102" y="2377440"/>
            <a:ext cx="1219156" cy="1645920"/>
          </a:xfrm>
          <a:prstGeom prst="roundRect">
            <a:avLst/>
          </a:prstGeom>
          <a:solidFill>
            <a:srgbClr val="E83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47542" y="2560320"/>
            <a:ext cx="103627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Publish Content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47542" y="3108960"/>
            <a:ext cx="10362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System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12418" y="3182112"/>
            <a:ext cx="228600" cy="36576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167866" y="3145536"/>
            <a:ext cx="73152" cy="109728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241018" y="2377440"/>
            <a:ext cx="1219156" cy="1645920"/>
          </a:xfrm>
          <a:prstGeom prst="roundRect">
            <a:avLst/>
          </a:prstGeom>
          <a:solidFill>
            <a:srgbClr val="E83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332458" y="2560320"/>
            <a:ext cx="103627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Notify Rejection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458" y="3108960"/>
            <a:ext cx="10362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System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30352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Legend: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97280" y="5577840"/>
            <a:ext cx="182880" cy="182880"/>
          </a:xfrm>
          <a:prstGeom prst="round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71600" y="555955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Start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00400" y="5577840"/>
            <a:ext cx="182880" cy="1828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4720" y="555955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Action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303520" y="5577840"/>
            <a:ext cx="182880" cy="18288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77840" y="555955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Decision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06640" y="5577840"/>
            <a:ext cx="182880" cy="182880"/>
          </a:xfrm>
          <a:prstGeom prst="roundRect">
            <a:avLst/>
          </a:prstGeom>
          <a:solidFill>
            <a:srgbClr val="946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0" y="555955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Wait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09760" y="5577840"/>
            <a:ext cx="182880" cy="182880"/>
          </a:xfrm>
          <a:prstGeom prst="roundRect">
            <a:avLst/>
          </a:prstGeom>
          <a:solidFill>
            <a:srgbClr val="E83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84080" y="555955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KPI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2BEC3"/>
                </a:solidFill>
                <a:latin typeface="Segoe UI"/>
              </a:defRPr>
            </a:pPr>
            <a:r>
              <a:t>Key performance indicators &amp; targets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B2BEC3"/>
                </a:solidFill>
                <a:latin typeface="Segoe UI"/>
              </a:defRPr>
            </a:pPr>
            <a:r>
              <a:t>BSC · Business System Compiler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B2BEC3"/>
                </a:solidFill>
                <a:latin typeface="Segoe UI"/>
              </a:defRPr>
            </a:pPr>
            <a: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371600"/>
          <a:ext cx="1078992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926080"/>
                <a:gridCol w="2926080"/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Formula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Branch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Daily Throughput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processed /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&gt; 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KpiBranch.EFFICIENCY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Avg Screening Time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sum(screen_ms) / count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&lt; 500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KpiBranch.EFFICIENCY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Screening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correct / total *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&gt; 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KpiBranch.QUALITY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False Positive Rate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fp / total_flagged * 100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&lt; 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KpiBranch.QUALITY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Review Queue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count(pending)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&lt; 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KpiBranch.CAPACITY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Reviewer Utilization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active / shift * 100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70-85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KpiBranch.CAPACITY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Cost Per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total_cost / reviewed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&lt; 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KpiBranch.COST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SLA Compliance Rate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sla_met / total * 100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&gt; 99.5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KpiBranch.RISK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Risk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2BEC3"/>
                </a:solidFill>
                <a:latin typeface="Segoe UI"/>
              </a:defRPr>
            </a:pPr>
            <a:r>
              <a:t>Risk assessment &amp; mitigation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B2BEC3"/>
                </a:solidFill>
                <a:latin typeface="Segoe UI"/>
              </a:defRPr>
            </a:pPr>
            <a:r>
              <a:t>BSC · Business System Compiler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B2BEC3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347472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0" y="1417320"/>
            <a:ext cx="640080" cy="32004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35608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4173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3A5C"/>
                </a:solidFill>
                <a:latin typeface="Segoe UI"/>
              </a:defRPr>
            </a:pPr>
            <a:r>
              <a:t>AI False Negatives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7373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36E72"/>
                </a:solidFill>
                <a:latin typeface="Segoe UI"/>
              </a:defRPr>
            </a:pPr>
            <a:r>
              <a:t>Probability: MEDIUM  |  Impact: 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5740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Mitigation: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24028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Weekly model retraining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1089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E86AB"/>
                </a:solidFill>
                <a:latin typeface="Segoe UI"/>
              </a:defRPr>
            </a:pPr>
            <a:r>
              <a:t>Owner: ML Team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1280160"/>
            <a:ext cx="347472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0" y="1417320"/>
            <a:ext cx="640080" cy="32004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1435608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14173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3A5C"/>
                </a:solidFill>
                <a:latin typeface="Segoe UI"/>
              </a:defRPr>
            </a:pPr>
            <a:r>
              <a:t>Reviewer Fatigue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17373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36E72"/>
                </a:solidFill>
                <a:latin typeface="Segoe UI"/>
              </a:defRPr>
            </a:pPr>
            <a:r>
              <a:t>Probability: MEDIUM  |  Impact: MEDIUM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05740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Mitigation: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24028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Mandatory breaks + rotation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1089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E86AB"/>
                </a:solidFill>
                <a:latin typeface="Segoe UI"/>
              </a:defRPr>
            </a:pPr>
            <a:r>
              <a:t>Owner: Team Lead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1280160"/>
            <a:ext cx="347472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881360" y="1417320"/>
            <a:ext cx="640080" cy="3200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81360" y="1435608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14173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3A5C"/>
                </a:solidFill>
                <a:latin typeface="Segoe UI"/>
              </a:defRPr>
            </a:pPr>
            <a:r>
              <a:t>Peak Volume Overload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17373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36E72"/>
                </a:solidFill>
                <a:latin typeface="Segoe UI"/>
              </a:defRPr>
            </a:pPr>
            <a:r>
              <a:t>Probability: LOW  |  Impact: 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05740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Mitigation: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24028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Auto-scale reviewer pool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1089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E86AB"/>
                </a:solidFill>
                <a:latin typeface="Segoe UI"/>
              </a:defRPr>
            </a:pPr>
            <a:r>
              <a:t>Owner: DevOps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3657600"/>
            <a:ext cx="347472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83280" y="3794760"/>
            <a:ext cx="640080" cy="3200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80" y="3813048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379476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3A5C"/>
                </a:solidFill>
                <a:latin typeface="Segoe UI"/>
              </a:defRPr>
            </a:pPr>
            <a:r>
              <a:t>API Downtime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11480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36E72"/>
                </a:solidFill>
                <a:latin typeface="Segoe UI"/>
              </a:defRPr>
            </a:pPr>
            <a:r>
              <a:t>Probability: LOW  |  Impact: HIGH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43484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Mitigation: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61772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Multi-region failover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48640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E86AB"/>
                </a:solidFill>
                <a:latin typeface="Segoe UI"/>
              </a:defRPr>
            </a:pPr>
            <a:r>
              <a:t>Owner: DevOps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5029200"/>
            <a:ext cx="2743200" cy="27432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0" y="-457200"/>
            <a:ext cx="2286000" cy="22860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5603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B2BEC3"/>
                </a:solidFill>
                <a:latin typeface="Segoe UI"/>
              </a:defRPr>
            </a:pPr>
            <a:r>
              <a:t>1. Review and validate the business system model</a:t>
            </a:r>
          </a:p>
          <a:p>
            <a:pPr>
              <a:spcAft>
                <a:spcPts val="400"/>
              </a:spcAft>
              <a:defRPr sz="1400" b="0">
                <a:solidFill>
                  <a:srgbClr val="B2BEC3"/>
                </a:solidFill>
                <a:latin typeface="Segoe UI"/>
              </a:defRPr>
            </a:pPr>
            <a:r>
              <a:t>2. Align stakeholders on KPIs and SLA targets</a:t>
            </a:r>
          </a:p>
          <a:p>
            <a:pPr>
              <a:spcAft>
                <a:spcPts val="400"/>
              </a:spcAft>
              <a:defRPr sz="1400" b="0">
                <a:solidFill>
                  <a:srgbClr val="B2BEC3"/>
                </a:solidFill>
                <a:latin typeface="Segoe UI"/>
              </a:defRPr>
            </a:pPr>
            <a:r>
              <a:t>3. Implement monitoring dashboards</a:t>
            </a:r>
          </a:p>
          <a:p>
            <a:pPr>
              <a:spcAft>
                <a:spcPts val="400"/>
              </a:spcAft>
              <a:defRPr sz="1400" b="0">
                <a:solidFill>
                  <a:srgbClr val="B2BEC3"/>
                </a:solidFill>
                <a:latin typeface="Segoe UI"/>
              </a:defRPr>
            </a:pPr>
            <a:r>
              <a:t>4. Conduct risk mitigation planning</a:t>
            </a:r>
          </a:p>
          <a:p>
            <a:pPr>
              <a:spcAft>
                <a:spcPts val="400"/>
              </a:spcAft>
              <a:defRPr sz="1400" b="0">
                <a:solidFill>
                  <a:srgbClr val="B2BEC3"/>
                </a:solidFill>
                <a:latin typeface="Segoe UI"/>
              </a:defRPr>
            </a:pPr>
            <a:r>
              <a:t>5. Schedule quarterly business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36E72"/>
                </a:solidFill>
                <a:latin typeface="Segoe UI"/>
              </a:defRPr>
            </a:pPr>
            <a:r>
              <a:t>Generated by BSC · Business System Compiler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