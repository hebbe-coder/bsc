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800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91695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FFFFFF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 b="0">
                <a:solidFill>
                  <a:srgbClr val="FFFFFF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37160" cy="5486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78716C"/>
                </a:solidFill>
                <a:latin typeface="Arial"/>
              </a:defRPr>
            </a:pPr>
            <a:r>
              <a:t>行业：retail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78716C"/>
                </a:solidFill>
                <a:latin typeface="Arial"/>
              </a:defRPr>
            </a:pPr>
            <a:r>
              <a:t>2026年07月07日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A8A29E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A8A29E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C1917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78716C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4231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EA580C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42316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EC489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371600"/>
            <a:ext cx="24231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16A34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1371600"/>
            <a:ext cx="24231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DC262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108960"/>
            <a:ext cx="10728655" cy="1097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EA580C"/>
                </a:solidFill>
                <a:latin typeface="Arial"/>
              </a:defRPr>
            </a:pPr>
            <a:r>
              <a:t>业务目标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5204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b="0">
                <a:solidFill>
                  <a:srgbClr val="1C1917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389120"/>
            <a:ext cx="4572000" cy="381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EA580C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1C1917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1C1917"/>
                </a:solidFill>
                <a:latin typeface="Arial"/>
              </a:defRPr>
            </a:pPr>
            <a:r>
              <a:t>2. 支付模块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1C1917"/>
                </a:solidFill>
                <a:latin typeface="Arial"/>
              </a:defRPr>
            </a:pPr>
            <a:r>
              <a:t>3. 库存模块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1C1917"/>
                </a:solidFill>
                <a:latin typeface="Arial"/>
              </a:defRPr>
            </a:pPr>
            <a:r>
              <a:t>4. 物流模块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1C1917"/>
                </a:solidFill>
                <a:latin typeface="Arial"/>
              </a:defRPr>
            </a:pPr>
            <a:r>
              <a:t>5. 售后模块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78716C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1C1917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78716C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1C1917"/>
                </a:solidFill>
                <a:latin typeface="Arial"/>
              </a:defRPr>
            </a:pPr>
            <a:r>
              <a:t>PPTX, HTML, 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78716C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1C1917"/>
                </a:solidFill>
                <a:latin typeface="Arial"/>
              </a:defRPr>
            </a:pPr>
            <a:r>
              <a:t>业务理解、流程设计、风险评估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A8A29E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C1917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78716C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9184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C1917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依赖: 用户模块, 商品模块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29184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C1917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461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依赖: 订单模块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37160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371600"/>
            <a:ext cx="329184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554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C1917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920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461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依赖: 商品模块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931920"/>
            <a:ext cx="32918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C1917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依赖: 订单模块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93192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931920"/>
            <a:ext cx="3291840" cy="7315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114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C1917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806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依赖: 订单模块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93192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3931920"/>
            <a:ext cx="32918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4114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C1917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806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依赖: 订单模块, 库存模块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A8A29E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C1917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78716C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898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C1917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459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4447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463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EA580C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447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1783080"/>
            <a:ext cx="13716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057400"/>
            <a:ext cx="411480" cy="41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1305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075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C1917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3317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1305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148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EC4899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1305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2468880"/>
            <a:ext cx="13716" cy="2743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28163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7614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C1917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0175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8163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8346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FB923C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8163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" y="3154680"/>
            <a:ext cx="13716" cy="2743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429000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5021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4472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C1917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7033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5021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3520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16A34A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5021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" y="3840480"/>
            <a:ext cx="13716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4114800"/>
            <a:ext cx="411480" cy="41148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41879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133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C1917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3891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1879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4206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CA8A04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4187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" y="4526280"/>
            <a:ext cx="13716" cy="2743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4800600"/>
            <a:ext cx="41148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48737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48188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C1917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50749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48737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4892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DC2626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0" y="48737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" y="5212080"/>
            <a:ext cx="13716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0" y="5486400"/>
            <a:ext cx="41148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" y="55595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504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C1917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57607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55595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5577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EA580C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0" y="55595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" y="5897880"/>
            <a:ext cx="13716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6172200"/>
            <a:ext cx="411480" cy="41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952" y="62453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160" y="61904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C1917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0160" y="64465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62453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A8A29E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C1917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78716C"/>
                </a:solidFill>
                <a:latin typeface="Arial"/>
              </a:defRPr>
            </a:pPr>
            <a:r>
              <a:t>可量化指标与目标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EA580C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EC4899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FB923C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16A34A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46888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56032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278892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EA580C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46888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256032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278892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EC4899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A8A29E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C1917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78716C"/>
                </a:solidFill>
                <a:latin typeface="Arial"/>
              </a:defRPr>
            </a:pPr>
            <a:r>
              <a:t>风险矩阵与应对策略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C1917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514600"/>
            <a:ext cx="3017520" cy="274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514600"/>
            <a:ext cx="271576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06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DC2626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应对: 使用分布式锁，预扣库存机制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291840" cy="5486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508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C1917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514600"/>
            <a:ext cx="3017520" cy="274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514600"/>
            <a:ext cx="2112263" cy="274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606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CA8A04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应对: 异步处理，超时重试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37160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371600"/>
            <a:ext cx="329184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508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C1917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514600"/>
            <a:ext cx="3017520" cy="274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2514600"/>
            <a:ext cx="150876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606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应对: 定时拉取，增量更新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93192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931920"/>
            <a:ext cx="3291840" cy="5486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069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C1917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5074920"/>
            <a:ext cx="3017520" cy="274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5074920"/>
            <a:ext cx="2414016" cy="274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166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CA8A04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440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应对: 统一数据中台，实时同步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93192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80" y="3931920"/>
            <a:ext cx="329184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4069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C1917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5074920"/>
            <a:ext cx="3017520" cy="274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34840" y="5074920"/>
            <a:ext cx="1810511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5166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440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应对: 缓存策略，水平扩展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393192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63840" y="3931920"/>
            <a:ext cx="329184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4069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C1917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78716C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5074920"/>
            <a:ext cx="3017520" cy="274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01000" y="5074920"/>
            <a:ext cx="150876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5166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5440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应对: 数据加密，访问控制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A8A29E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C1917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78716C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37744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16A34A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37744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EA580C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371600"/>
            <a:ext cx="237744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EC4899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9640" y="1371600"/>
            <a:ext cx="237744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936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FB923C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291840"/>
            <a:ext cx="10728655" cy="25603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383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EA580C"/>
                </a:solidFill>
                <a:latin typeface="Arial"/>
              </a:defRPr>
            </a:pPr>
            <a:r>
              <a:t>年度预期效益对比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7490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1C1917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1C1917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1C1917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74903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1C1917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005071"/>
            <a:ext cx="10362895" cy="4572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690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0690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0690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06907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6A34A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325111"/>
            <a:ext cx="10362895" cy="4572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3891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38911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38911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38911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6A34A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4645151"/>
            <a:ext cx="10362895" cy="4572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7091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7091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47091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70915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6A34A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965191"/>
            <a:ext cx="10362895" cy="4572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0291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02919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02919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02919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6A34A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A8A29E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C1917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78716C"/>
                </a:solidFill>
                <a:latin typeface="Arial"/>
              </a:defRPr>
            </a:pPr>
            <a:r>
              <a:t>分阶段交付计划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685800" cy="685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4630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737360"/>
            <a:ext cx="182880" cy="137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2377440" cy="3383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3774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EA580C"/>
                </a:solidFill>
                <a:latin typeface="Arial"/>
              </a:defRPr>
            </a:pPr>
            <a:r>
              <a:t>基础架构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51760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0-4周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371600"/>
            <a:ext cx="685800" cy="685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4630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737360"/>
            <a:ext cx="182880" cy="1371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2286000"/>
            <a:ext cx="2377440" cy="3383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23774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EC4899"/>
                </a:solidFill>
                <a:latin typeface="Arial"/>
              </a:defRPr>
            </a:pPr>
            <a:r>
              <a:t>核心功能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2651760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4-8周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371600"/>
            <a:ext cx="685800" cy="685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14630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86000"/>
            <a:ext cx="2377440" cy="3383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23774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FB923C"/>
                </a:solidFill>
                <a:latin typeface="Arial"/>
              </a:defRPr>
            </a:pPr>
            <a:r>
              <a:t>优化完善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2651760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8-12周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A8A29E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C1917"/>
                </a:solidFill>
                <a:latin typeface="Arial"/>
              </a:defRPr>
            </a:pPr>
            <a:r>
              <a:t>对比分析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78716C"/>
                </a:solidFill>
                <a:latin typeface="Arial"/>
              </a:defRPr>
            </a:pPr>
            <a:r>
              <a:t>现状与目标差距分析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78716C"/>
                </a:solidFill>
                <a:latin typeface="Arial"/>
              </a:defRPr>
            </a:pPr>
            <a:r>
              <a:t>处理效率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C1917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EA580C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468880"/>
            <a:ext cx="2157984" cy="18288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2468880"/>
            <a:ext cx="924850" cy="1828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78716C"/>
                </a:solidFill>
                <a:latin typeface="Arial"/>
              </a:defRPr>
            </a:pPr>
            <a:r>
              <a:t>人工审核率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C1917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CA8A04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47288" y="2468880"/>
            <a:ext cx="2157984" cy="18288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47288" y="2468880"/>
            <a:ext cx="863193" cy="1828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78716C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C1917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DC2626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2468880"/>
            <a:ext cx="2157984" cy="18288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53328" y="2468880"/>
            <a:ext cx="741806" cy="182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964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78716C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936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936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C1917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A8A29E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6A34A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59368" y="2468880"/>
            <a:ext cx="2157984" cy="18288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59368" y="2468880"/>
            <a:ext cx="2157984" cy="182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3474720"/>
            <a:ext cx="10728655" cy="23774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EC4899"/>
                </a:solidFill>
                <a:latin typeface="Arial"/>
              </a:defRPr>
            </a:pPr>
            <a:r>
              <a:t>关键改进措施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39319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C1917"/>
                </a:solidFill>
                <a:latin typeface="Arial"/>
              </a:defRPr>
            </a:pPr>
            <a:r>
              <a:t>1. 引入分布式锁</a:t>
            </a:r>
          </a:p>
          <a:p>
            <a:pPr>
              <a:lnSpc>
                <a:spcPct val="120000"/>
              </a:lnSpc>
              <a:defRPr sz="1000" b="1">
                <a:solidFill>
                  <a:srgbClr val="1C1917"/>
                </a:solidFill>
                <a:latin typeface="Arial"/>
              </a:defRPr>
            </a:pPr>
            <a:r>
              <a:t>2. 异步支付处理</a:t>
            </a:r>
          </a:p>
          <a:p>
            <a:pPr>
              <a:lnSpc>
                <a:spcPct val="120000"/>
              </a:lnSpc>
              <a:defRPr sz="1000" b="1">
                <a:solidFill>
                  <a:srgbClr val="1C1917"/>
                </a:solidFill>
                <a:latin typeface="Arial"/>
              </a:defRPr>
            </a:pPr>
            <a:r>
              <a:t>3. 智能库存预警</a:t>
            </a:r>
          </a:p>
          <a:p>
            <a:pPr>
              <a:lnSpc>
                <a:spcPct val="120000"/>
              </a:lnSpc>
              <a:defRPr sz="1000" b="1">
                <a:solidFill>
                  <a:srgbClr val="1C1917"/>
                </a:solidFill>
                <a:latin typeface="Arial"/>
              </a:defRPr>
            </a:pPr>
            <a:r>
              <a:t>4. 实时数据同步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A8A29E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FFFFFF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0">
                <a:solidFill>
                  <a:srgbClr val="FFFFFF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37160" cy="5486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A8A29E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A8A29E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