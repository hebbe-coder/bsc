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B7280"/>
                </a:solidFill>
                <a:latin typeface="Arial"/>
              </a:defRPr>
            </a:pPr>
            <a:r>
              <a:t>业务系统分析报告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F2937"/>
                </a:solidFill>
                <a:latin typeface="Arial"/>
              </a:defRPr>
            </a:pPr>
            <a:r>
              <a:t>零售电商订单管理系统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6B7280"/>
                </a:solidFill>
                <a:latin typeface="Arial"/>
              </a:defRPr>
            </a:pPr>
            <a:r>
              <a:t>构建一套高效的订单管理系统，实现订单全生命周期管理，提升运营效率和客户体验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9CA3AF"/>
                </a:solidFill>
                <a:latin typeface="Arial"/>
              </a:defRPr>
            </a:pPr>
            <a:r>
              <a:t>行业：retail | 2026年07月07日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4754880"/>
            <a:ext cx="182880" cy="4572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48463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FFFFF"/>
                </a:solidFill>
                <a:latin typeface="Arial"/>
              </a:defRPr>
            </a:pPr>
            <a:r>
              <a:t>Generated by BSC Engine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3093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9CA3AF"/>
                </a:solidFill>
                <a:latin typeface="Consola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2937"/>
                </a:solidFill>
                <a:latin typeface="Arial"/>
              </a:defRPr>
            </a:pPr>
            <a:r>
              <a:t>执行摘要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05840"/>
            <a:ext cx="10362895" cy="635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43000"/>
            <a:ext cx="103628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B7280"/>
                </a:solidFill>
                <a:latin typeface="Arial"/>
              </a:defRPr>
            </a:pPr>
            <a:r>
              <a:t>系统概览与关键指标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463040"/>
            <a:ext cx="233172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5544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B7280"/>
                </a:solidFill>
                <a:latin typeface="Arial"/>
              </a:defRPr>
            </a:pPr>
            <a:r>
              <a:t>功能模块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8288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E40AF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9" name="Rectangle 8"/>
          <p:cNvSpPr/>
          <p:nvPr/>
        </p:nvSpPr>
        <p:spPr>
          <a:xfrm>
            <a:off x="3520440" y="1463040"/>
            <a:ext cx="233172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15544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B7280"/>
                </a:solidFill>
                <a:latin typeface="Arial"/>
              </a:defRPr>
            </a:pPr>
            <a:r>
              <a:t>流程节点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18288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59E0B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463040"/>
            <a:ext cx="233172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15544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B7280"/>
                </a:solidFill>
                <a:latin typeface="Arial"/>
              </a:defRPr>
            </a:pPr>
            <a:r>
              <a:t>关键指标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18288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0B981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32520" y="1463040"/>
            <a:ext cx="233172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0" y="15544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B7280"/>
                </a:solidFill>
                <a:latin typeface="Arial"/>
              </a:defRPr>
            </a:pPr>
            <a:r>
              <a:t>识别风险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0" y="18288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F4444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2004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1F2937"/>
                </a:solidFill>
                <a:latin typeface="Arial"/>
              </a:defRPr>
            </a:pPr>
            <a:r>
              <a:t>构建一套高效的订单管理系统，实现订单全生命周期管理，提升运营效率和客户体验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4206240"/>
            <a:ext cx="4572000" cy="381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4805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40AF"/>
                </a:solidFill>
                <a:latin typeface="Arial"/>
              </a:defRPr>
            </a:pPr>
            <a:r>
              <a:t>核心模块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84632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1F2937"/>
                </a:solidFill>
                <a:latin typeface="Arial"/>
              </a:defRPr>
            </a:pPr>
            <a:r>
              <a:t>1. 订单管理模块</a:t>
            </a:r>
          </a:p>
          <a:p>
            <a:pPr>
              <a:defRPr sz="1000" b="0">
                <a:solidFill>
                  <a:srgbClr val="1F2937"/>
                </a:solidFill>
                <a:latin typeface="Arial"/>
              </a:defRPr>
            </a:pPr>
            <a:r>
              <a:t>2. 支付模块</a:t>
            </a:r>
          </a:p>
          <a:p>
            <a:pPr>
              <a:defRPr sz="1000" b="0">
                <a:solidFill>
                  <a:srgbClr val="1F2937"/>
                </a:solidFill>
                <a:latin typeface="Arial"/>
              </a:defRPr>
            </a:pPr>
            <a:r>
              <a:t>3. 库存模块</a:t>
            </a:r>
          </a:p>
          <a:p>
            <a:pPr>
              <a:defRPr sz="1000" b="0">
                <a:solidFill>
                  <a:srgbClr val="1F2937"/>
                </a:solidFill>
                <a:latin typeface="Arial"/>
              </a:defRPr>
            </a:pPr>
            <a:r>
              <a:t>4. 物流模块</a:t>
            </a:r>
          </a:p>
          <a:p>
            <a:pPr>
              <a:defRPr sz="1000" b="0">
                <a:solidFill>
                  <a:srgbClr val="1F2937"/>
                </a:solidFill>
                <a:latin typeface="Arial"/>
              </a:defRPr>
            </a:pPr>
            <a:r>
              <a:t>5. 售后模块</a:t>
            </a:r>
          </a:p>
          <a:p>
            <a:pPr>
              <a:defRPr sz="1000" b="0">
                <a:solidFill>
                  <a:srgbClr val="1F2937"/>
                </a:solidFill>
                <a:latin typeface="Arial"/>
              </a:defRPr>
            </a:pPr>
            <a:r>
              <a:t>6. 数据分析模块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4805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6B7280"/>
                </a:solidFill>
                <a:latin typeface="Arial"/>
              </a:defRPr>
            </a:pPr>
            <a:r>
              <a:t>技术架构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44805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1F2937"/>
                </a:solidFill>
                <a:latin typeface="Arial"/>
              </a:defRPr>
            </a:pPr>
            <a:r>
              <a:t>FastAPI + Python + Redis + PostgreSQL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892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6B7280"/>
                </a:solidFill>
                <a:latin typeface="Arial"/>
              </a:defRPr>
            </a:pPr>
            <a:r>
              <a:t>输出格式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4892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1F2937"/>
                </a:solidFill>
                <a:latin typeface="Arial"/>
              </a:defRPr>
            </a:pPr>
            <a:r>
              <a:t>PPTX, HTML, PDF, Word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303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6B7280"/>
                </a:solidFill>
                <a:latin typeface="Arial"/>
              </a:defRPr>
            </a:pPr>
            <a:r>
              <a:t>分析维度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5303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1F2937"/>
                </a:solidFill>
                <a:latin typeface="Arial"/>
              </a:defRPr>
            </a:pPr>
            <a:r>
              <a:t>业务理解、流程设计、风险评估、战略建议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3093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9CA3AF"/>
                </a:solidFill>
                <a:latin typeface="Consola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2937"/>
                </a:solidFill>
                <a:latin typeface="Arial"/>
              </a:defRPr>
            </a:pPr>
            <a:r>
              <a:t>系统架构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05840"/>
            <a:ext cx="10362895" cy="635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43000"/>
            <a:ext cx="103628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B7280"/>
                </a:solidFill>
                <a:latin typeface="Arial"/>
              </a:defRPr>
            </a:pPr>
            <a:r>
              <a:t>模块分解与依赖关系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463040"/>
            <a:ext cx="320040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1463040"/>
            <a:ext cx="3200400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1627632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2937"/>
                </a:solidFill>
                <a:latin typeface="Arial"/>
              </a:defRPr>
            </a:pPr>
            <a:r>
              <a:t>01  订单管理模块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01168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B7280"/>
                </a:solidFill>
                <a:latin typeface="Arial"/>
              </a:defRPr>
            </a:pPr>
            <a:r>
              <a:t>处理订单创建、修改、取消等操作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3337559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9CA3AF"/>
                </a:solidFill>
                <a:latin typeface="Arial"/>
              </a:defRPr>
            </a:pPr>
            <a:r>
              <a:t>Deps: 用户模块, 商品模块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1463040"/>
            <a:ext cx="320040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463040"/>
            <a:ext cx="32004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07992" y="1627632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2937"/>
                </a:solidFill>
                <a:latin typeface="Arial"/>
              </a:defRPr>
            </a:pPr>
            <a:r>
              <a:t>02  支付模块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7992" y="201168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B7280"/>
                </a:solidFill>
                <a:latin typeface="Arial"/>
              </a:defRPr>
            </a:pPr>
            <a:r>
              <a:t>集成多种支付方式，处理支付流程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7992" y="3337559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9CA3AF"/>
                </a:solidFill>
                <a:latin typeface="Arial"/>
              </a:defRPr>
            </a:pPr>
            <a:r>
              <a:t>Deps: 订单模块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0" y="1463040"/>
            <a:ext cx="320040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0" y="1463040"/>
            <a:ext cx="32004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36992" y="1627632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2937"/>
                </a:solidFill>
                <a:latin typeface="Arial"/>
              </a:defRPr>
            </a:pPr>
            <a:r>
              <a:t>03  库存模块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36992" y="201168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B7280"/>
                </a:solidFill>
                <a:latin typeface="Arial"/>
              </a:defRPr>
            </a:pPr>
            <a:r>
              <a:t>实时库存管理，库存预警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36992" y="3337559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9CA3AF"/>
                </a:solidFill>
                <a:latin typeface="Arial"/>
              </a:defRPr>
            </a:pPr>
            <a:r>
              <a:t>Deps: 商品模块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3931920"/>
            <a:ext cx="320040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0" y="3931920"/>
            <a:ext cx="320040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78992" y="4096512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2937"/>
                </a:solidFill>
                <a:latin typeface="Arial"/>
              </a:defRPr>
            </a:pPr>
            <a:r>
              <a:t>04  物流模块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" y="448056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B7280"/>
                </a:solidFill>
                <a:latin typeface="Arial"/>
              </a:defRPr>
            </a:pPr>
            <a:r>
              <a:t>订单配送追踪，物流信息同步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" y="5806439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9CA3AF"/>
                </a:solidFill>
                <a:latin typeface="Arial"/>
              </a:defRPr>
            </a:pPr>
            <a:r>
              <a:t>Deps: 订单模块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43400" y="3931920"/>
            <a:ext cx="320040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43400" y="3931920"/>
            <a:ext cx="32004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07992" y="4096512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2937"/>
                </a:solidFill>
                <a:latin typeface="Arial"/>
              </a:defRPr>
            </a:pPr>
            <a:r>
              <a:t>05  售后模块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07992" y="448056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B7280"/>
                </a:solidFill>
                <a:latin typeface="Arial"/>
              </a:defRPr>
            </a:pPr>
            <a:r>
              <a:t>处理退换货申请，售后服务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07992" y="5806439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9CA3AF"/>
                </a:solidFill>
                <a:latin typeface="Arial"/>
              </a:defRPr>
            </a:pPr>
            <a:r>
              <a:t>Deps: 订单模块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0" y="3931920"/>
            <a:ext cx="320040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0" y="3931920"/>
            <a:ext cx="3200400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36992" y="4096512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F2937"/>
                </a:solidFill>
                <a:latin typeface="Arial"/>
              </a:defRPr>
            </a:pPr>
            <a:r>
              <a:t>06  数据分析模块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36992" y="448056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B7280"/>
                </a:solidFill>
                <a:latin typeface="Arial"/>
              </a:defRPr>
            </a:pPr>
            <a:r>
              <a:t>订单数据分析，业务报表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36992" y="5806439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9CA3AF"/>
                </a:solidFill>
                <a:latin typeface="Arial"/>
              </a:defRPr>
            </a:pPr>
            <a:r>
              <a:t>Deps: 订单模块, 库存模块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3093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9CA3AF"/>
                </a:solidFill>
                <a:latin typeface="Consola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2937"/>
                </a:solidFill>
                <a:latin typeface="Arial"/>
              </a:defRPr>
            </a:pPr>
            <a:r>
              <a:t>业务流程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05840"/>
            <a:ext cx="10362895" cy="635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43000"/>
            <a:ext cx="103628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B7280"/>
                </a:solidFill>
                <a:latin typeface="Arial"/>
              </a:defRPr>
            </a:pPr>
            <a:r>
              <a:t>标准操作流程与责任人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463040"/>
            <a:ext cx="384048" cy="384048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17904"/>
            <a:ext cx="384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481328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F2937"/>
                </a:solidFill>
                <a:latin typeface="Arial"/>
              </a:defRPr>
            </a:pPr>
            <a:r>
              <a:t>用户下单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719072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B7280"/>
                </a:solidFill>
                <a:latin typeface="Arial"/>
              </a:defRPr>
            </a:pPr>
            <a:r>
              <a:t>责任人: 客户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150876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1E40AF"/>
                </a:solidFill>
                <a:latin typeface="Arial"/>
              </a:defRPr>
            </a:pPr>
            <a:r>
              <a:t>SLA: 24h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1719072"/>
            <a:ext cx="3200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CA3AF"/>
                </a:solidFill>
                <a:latin typeface="Arial"/>
              </a:defRPr>
            </a:pPr>
            <a:r>
              <a:t>→ 订单审核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97280" y="1847088"/>
            <a:ext cx="13716" cy="25603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" y="2103120"/>
            <a:ext cx="384048" cy="3840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157984"/>
            <a:ext cx="384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2121408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F2937"/>
                </a:solidFill>
                <a:latin typeface="Arial"/>
              </a:defRPr>
            </a:pPr>
            <a:r>
              <a:t>订单审核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2359152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B7280"/>
                </a:solidFill>
                <a:latin typeface="Arial"/>
              </a:defRPr>
            </a:pPr>
            <a:r>
              <a:t>责任人: 审核员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14884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1E40AF"/>
                </a:solidFill>
                <a:latin typeface="Arial"/>
              </a:defRPr>
            </a:pPr>
            <a:r>
              <a:t>SLA: 1h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359152"/>
            <a:ext cx="3200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CA3AF"/>
                </a:solidFill>
                <a:latin typeface="Arial"/>
              </a:defRPr>
            </a:pPr>
            <a:r>
              <a:t>→ 库存检查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97280" y="2487168"/>
            <a:ext cx="13716" cy="2560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4400" y="2743200"/>
            <a:ext cx="384048" cy="38404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2798064"/>
            <a:ext cx="384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2761488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F2937"/>
                </a:solidFill>
                <a:latin typeface="Arial"/>
              </a:defRPr>
            </a:pPr>
            <a:r>
              <a:t>库存检查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2999232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B7280"/>
                </a:solidFill>
                <a:latin typeface="Arial"/>
              </a:defRPr>
            </a:pPr>
            <a:r>
              <a:t>责任人: 系统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278892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1E40AF"/>
                </a:solidFill>
                <a:latin typeface="Arial"/>
              </a:defRPr>
            </a:pPr>
            <a:r>
              <a:t>SLA: 0.5h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2999232"/>
            <a:ext cx="3200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CA3AF"/>
                </a:solidFill>
                <a:latin typeface="Arial"/>
              </a:defRPr>
            </a:pPr>
            <a:r>
              <a:t>→ 支付处理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97280" y="3127248"/>
            <a:ext cx="13716" cy="25603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14400" y="3383280"/>
            <a:ext cx="384048" cy="3840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3438144"/>
            <a:ext cx="384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63040" y="3401568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F2937"/>
                </a:solidFill>
                <a:latin typeface="Arial"/>
              </a:defRPr>
            </a:pPr>
            <a:r>
              <a:t>支付处理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63040" y="3639312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B7280"/>
                </a:solidFill>
                <a:latin typeface="Arial"/>
              </a:defRPr>
            </a:pPr>
            <a:r>
              <a:t>责任人: 支付系统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9120" y="342900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1E40AF"/>
                </a:solidFill>
                <a:latin typeface="Arial"/>
              </a:defRPr>
            </a:pPr>
            <a:r>
              <a:t>SLA: 0.25h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20" y="3639312"/>
            <a:ext cx="3200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CA3AF"/>
                </a:solidFill>
                <a:latin typeface="Arial"/>
              </a:defRPr>
            </a:pPr>
            <a:r>
              <a:t>→ 发货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97280" y="3767328"/>
            <a:ext cx="13716" cy="2560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400" y="4023360"/>
            <a:ext cx="384048" cy="3840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4078224"/>
            <a:ext cx="384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63040" y="4041648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F2937"/>
                </a:solidFill>
                <a:latin typeface="Arial"/>
              </a:defRPr>
            </a:pPr>
            <a:r>
              <a:t>发货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63040" y="4279392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B7280"/>
                </a:solidFill>
                <a:latin typeface="Arial"/>
              </a:defRPr>
            </a:pPr>
            <a:r>
              <a:t>责任人: 仓库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89120" y="406908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1E40AF"/>
                </a:solidFill>
                <a:latin typeface="Arial"/>
              </a:defRPr>
            </a:pPr>
            <a:r>
              <a:t>SLA: 4h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89120" y="4279392"/>
            <a:ext cx="3200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CA3AF"/>
                </a:solidFill>
                <a:latin typeface="Arial"/>
              </a:defRPr>
            </a:pPr>
            <a:r>
              <a:t>→ 配送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97280" y="4407408"/>
            <a:ext cx="13716" cy="2560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14400" y="4663440"/>
            <a:ext cx="384048" cy="38404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4718304"/>
            <a:ext cx="384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463040" y="4681728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F2937"/>
                </a:solidFill>
                <a:latin typeface="Arial"/>
              </a:defRPr>
            </a:pPr>
            <a:r>
              <a:t>配送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63040" y="4919472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B7280"/>
                </a:solidFill>
                <a:latin typeface="Arial"/>
              </a:defRPr>
            </a:pPr>
            <a:r>
              <a:t>责任人: 物流商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89120" y="470916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1E40AF"/>
                </a:solidFill>
                <a:latin typeface="Arial"/>
              </a:defRPr>
            </a:pPr>
            <a:r>
              <a:t>SLA: 48h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89120" y="4919472"/>
            <a:ext cx="3200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CA3AF"/>
                </a:solidFill>
                <a:latin typeface="Arial"/>
              </a:defRPr>
            </a:pPr>
            <a:r>
              <a:t>→ 签收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97280" y="5047488"/>
            <a:ext cx="13716" cy="25603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14400" y="5303520"/>
            <a:ext cx="384048" cy="384048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14400" y="5358384"/>
            <a:ext cx="384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463040" y="5321808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F2937"/>
                </a:solidFill>
                <a:latin typeface="Arial"/>
              </a:defRPr>
            </a:pPr>
            <a:r>
              <a:t>签收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463040" y="5559552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B7280"/>
                </a:solidFill>
                <a:latin typeface="Arial"/>
              </a:defRPr>
            </a:pPr>
            <a:r>
              <a:t>责任人: 客户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389120" y="534924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1E40AF"/>
                </a:solidFill>
                <a:latin typeface="Arial"/>
              </a:defRPr>
            </a:pPr>
            <a:r>
              <a:t>SLA: 72h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389120" y="5559552"/>
            <a:ext cx="3200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CA3AF"/>
                </a:solidFill>
                <a:latin typeface="Arial"/>
              </a:defRPr>
            </a:pPr>
            <a:r>
              <a:t>→ 完成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97280" y="5687568"/>
            <a:ext cx="13716" cy="25603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914400" y="5943600"/>
            <a:ext cx="384048" cy="3840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14400" y="5998464"/>
            <a:ext cx="384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463040" y="5961888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F2937"/>
                </a:solidFill>
                <a:latin typeface="Arial"/>
              </a:defRPr>
            </a:pPr>
            <a:r>
              <a:t>完成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463040" y="6199632"/>
            <a:ext cx="27432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B7280"/>
                </a:solidFill>
                <a:latin typeface="Arial"/>
              </a:defRPr>
            </a:pPr>
            <a:r>
              <a:t>责任人: 系统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389120" y="6199632"/>
            <a:ext cx="3200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CA3AF"/>
                </a:solidFill>
                <a:latin typeface="Arial"/>
              </a:defRPr>
            </a:pPr>
            <a:r>
              <a:t>→ 完成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972800" y="63093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9CA3AF"/>
                </a:solidFill>
                <a:latin typeface="Consola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2937"/>
                </a:solidFill>
                <a:latin typeface="Arial"/>
              </a:defRPr>
            </a:pPr>
            <a:r>
              <a:t>关键指标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05840"/>
            <a:ext cx="10362895" cy="635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43000"/>
            <a:ext cx="103628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B7280"/>
                </a:solidFill>
                <a:latin typeface="Arial"/>
              </a:defRPr>
            </a:pPr>
            <a:r>
              <a:t>可量化指标与目标</a:t>
            </a:r>
          </a:p>
        </p:txBody>
      </p:sp>
      <p:pic>
        <p:nvPicPr>
          <p:cNvPr id="6" name="Picture 5" descr="chart_bar_5d395cf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5486400" cy="32918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914400" y="1463040"/>
            <a:ext cx="237744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60020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B7280"/>
                </a:solidFill>
                <a:latin typeface="Arial"/>
              </a:defRPr>
            </a:pPr>
            <a:r>
              <a:t>订单处理时长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92024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40AF"/>
                </a:solidFill>
                <a:latin typeface="Arial"/>
              </a:defRPr>
            </a:pPr>
            <a:r>
              <a:t>2小时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83464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9CA3AF"/>
                </a:solidFill>
                <a:latin typeface="Arial"/>
              </a:defRPr>
            </a:pPr>
            <a:r>
              <a:t>公式: 完成时间 - 创建时间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20440" y="1463040"/>
            <a:ext cx="237744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0" y="160020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B7280"/>
                </a:solidFill>
                <a:latin typeface="Arial"/>
              </a:defRPr>
            </a:pPr>
            <a:r>
              <a:t>订单准确率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192024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59E0B"/>
                </a:solidFill>
                <a:latin typeface="Arial"/>
              </a:defRPr>
            </a:pPr>
            <a:r>
              <a:t>99.5%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83464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9CA3AF"/>
                </a:solidFill>
                <a:latin typeface="Arial"/>
              </a:defRPr>
            </a:pPr>
            <a:r>
              <a:t>公式: 准确订单数 / 总订单数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1463040"/>
            <a:ext cx="237744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160020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B7280"/>
                </a:solidFill>
                <a:latin typeface="Arial"/>
              </a:defRPr>
            </a:pPr>
            <a:r>
              <a:t>库存周转率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192024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B82F6"/>
                </a:solidFill>
                <a:latin typeface="Arial"/>
              </a:defRPr>
            </a:pPr>
            <a:r>
              <a:t>8次/月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283464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9CA3AF"/>
                </a:solidFill>
                <a:latin typeface="Arial"/>
              </a:defRPr>
            </a:pPr>
            <a:r>
              <a:t>公式: 出库量 / 平均库存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732520" y="1463040"/>
            <a:ext cx="237744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680" y="160020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B7280"/>
                </a:solidFill>
                <a:latin typeface="Arial"/>
              </a:defRPr>
            </a:pPr>
            <a:r>
              <a:t>客户满意度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192024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0B981"/>
                </a:solidFill>
                <a:latin typeface="Arial"/>
              </a:defRPr>
            </a:pPr>
            <a:r>
              <a:t>95%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0" y="283464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9CA3AF"/>
                </a:solidFill>
                <a:latin typeface="Arial"/>
              </a:defRPr>
            </a:pPr>
            <a:r>
              <a:t>公式: 满意评价数 / 总评价数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" y="3931920"/>
            <a:ext cx="237744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1560" y="406908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B7280"/>
                </a:solidFill>
                <a:latin typeface="Arial"/>
              </a:defRPr>
            </a:pPr>
            <a:r>
              <a:t>退货率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438912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40AF"/>
                </a:solidFill>
                <a:latin typeface="Arial"/>
              </a:defRPr>
            </a:pPr>
            <a:r>
              <a:t>&lt;3%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530352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9CA3AF"/>
                </a:solidFill>
                <a:latin typeface="Arial"/>
              </a:defRPr>
            </a:pPr>
            <a:r>
              <a:t>公式: 退货订单数 / 总订单数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20440" y="3931920"/>
            <a:ext cx="237744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0" y="406908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B7280"/>
                </a:solidFill>
                <a:latin typeface="Arial"/>
              </a:defRPr>
            </a:pPr>
            <a:r>
              <a:t>支付成功率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0" y="438912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59E0B"/>
                </a:solidFill>
                <a:latin typeface="Arial"/>
              </a:defRPr>
            </a:pPr>
            <a:r>
              <a:t>99%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0" y="530352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9CA3AF"/>
                </a:solidFill>
                <a:latin typeface="Arial"/>
              </a:defRPr>
            </a:pPr>
            <a:r>
              <a:t>公式: 成功支付数 / 支付请求数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3093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9CA3AF"/>
                </a:solidFill>
                <a:latin typeface="Consolas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2937"/>
                </a:solidFill>
                <a:latin typeface="Arial"/>
              </a:defRPr>
            </a:pPr>
            <a:r>
              <a:t>风险评估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05840"/>
            <a:ext cx="10362895" cy="635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43000"/>
            <a:ext cx="103628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B7280"/>
                </a:solidFill>
                <a:latin typeface="Arial"/>
              </a:defRPr>
            </a:pPr>
            <a:r>
              <a:t>风险矩阵与应对策略</a:t>
            </a:r>
          </a:p>
        </p:txBody>
      </p:sp>
      <p:pic>
        <p:nvPicPr>
          <p:cNvPr id="6" name="Picture 5" descr="chart_pie_96690b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645920"/>
            <a:ext cx="4114800" cy="24688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914400" y="1463040"/>
            <a:ext cx="320040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1463040"/>
            <a:ext cx="3200400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60020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F2937"/>
                </a:solidFill>
                <a:latin typeface="Arial"/>
              </a:defRPr>
            </a:pPr>
            <a:r>
              <a:t>[CRITICAL] 库存不足导致超卖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92024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B7280"/>
                </a:solidFill>
                <a:latin typeface="Arial"/>
              </a:defRPr>
            </a:pPr>
            <a:r>
              <a:t>高并发场景下库存扣减不一致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51560" y="2651760"/>
            <a:ext cx="2926080" cy="36576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51560" y="2651760"/>
            <a:ext cx="2633472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274320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EF4444"/>
                </a:solidFill>
                <a:latin typeface="Arial"/>
              </a:defRPr>
            </a:pPr>
            <a:r>
              <a:t>风险评分: 9/10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01752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9CA3AF"/>
                </a:solidFill>
                <a:latin typeface="Arial"/>
              </a:defRPr>
            </a:pPr>
            <a:r>
              <a:t>应对措施: 使用分布式锁，预扣库存机制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3400" y="1463040"/>
            <a:ext cx="320040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1463040"/>
            <a:ext cx="32004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160020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F2937"/>
                </a:solidFill>
                <a:latin typeface="Arial"/>
              </a:defRPr>
            </a:pPr>
            <a:r>
              <a:t>[HIGH] 支付超时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192024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B7280"/>
                </a:solidFill>
                <a:latin typeface="Arial"/>
              </a:defRPr>
            </a:pPr>
            <a:r>
              <a:t>第三方支付接口响应慢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2651760"/>
            <a:ext cx="2926080" cy="36576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2651760"/>
            <a:ext cx="2048255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0560" y="274320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F59E0B"/>
                </a:solidFill>
                <a:latin typeface="Arial"/>
              </a:defRPr>
            </a:pPr>
            <a:r>
              <a:t>风险评分: 7/10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301752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9CA3AF"/>
                </a:solidFill>
                <a:latin typeface="Arial"/>
              </a:defRPr>
            </a:pPr>
            <a:r>
              <a:t>应对措施: 异步处理，超时重试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0" y="1463040"/>
            <a:ext cx="320040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772400" y="1463040"/>
            <a:ext cx="3200400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09560" y="160020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F2937"/>
                </a:solidFill>
                <a:latin typeface="Arial"/>
              </a:defRPr>
            </a:pPr>
            <a:r>
              <a:t>[MEDIUM] 物流信息延迟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09560" y="192024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B7280"/>
                </a:solidFill>
                <a:latin typeface="Arial"/>
              </a:defRPr>
            </a:pPr>
            <a:r>
              <a:t>物流商数据同步延迟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09560" y="2651760"/>
            <a:ext cx="2926080" cy="36576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909560" y="2651760"/>
            <a:ext cx="1463040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09560" y="274320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1E40AF"/>
                </a:solidFill>
                <a:latin typeface="Arial"/>
              </a:defRPr>
            </a:pPr>
            <a:r>
              <a:t>风险评分: 5/10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09560" y="301752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9CA3AF"/>
                </a:solidFill>
                <a:latin typeface="Arial"/>
              </a:defRPr>
            </a:pPr>
            <a:r>
              <a:t>应对措施: 定时拉取，增量更新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4400" y="3931920"/>
            <a:ext cx="320040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14400" y="3931920"/>
            <a:ext cx="32004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560" y="406908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F2937"/>
                </a:solidFill>
                <a:latin typeface="Arial"/>
              </a:defRPr>
            </a:pPr>
            <a:r>
              <a:t>[HIGH] 订单数据一致性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" y="438912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B7280"/>
                </a:solidFill>
                <a:latin typeface="Arial"/>
              </a:defRPr>
            </a:pPr>
            <a:r>
              <a:t>多渠道订单数据不一致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51560" y="5120640"/>
            <a:ext cx="2926080" cy="36576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51560" y="5120640"/>
            <a:ext cx="2340864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51560" y="521208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F59E0B"/>
                </a:solidFill>
                <a:latin typeface="Arial"/>
              </a:defRPr>
            </a:pPr>
            <a:r>
              <a:t>风险评分: 8/10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" y="54864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9CA3AF"/>
                </a:solidFill>
                <a:latin typeface="Arial"/>
              </a:defRPr>
            </a:pPr>
            <a:r>
              <a:t>应对措施: 统一数据中台，实时同步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43400" y="3931920"/>
            <a:ext cx="320040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343400" y="3931920"/>
            <a:ext cx="3200400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480560" y="406908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F2937"/>
                </a:solidFill>
                <a:latin typeface="Arial"/>
              </a:defRPr>
            </a:pPr>
            <a:r>
              <a:t>[MEDIUM] 系统性能瓶颈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80560" y="438912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B7280"/>
                </a:solidFill>
                <a:latin typeface="Arial"/>
              </a:defRPr>
            </a:pPr>
            <a:r>
              <a:t>大促期间系统响应慢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480560" y="5120640"/>
            <a:ext cx="2926080" cy="36576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480560" y="5120640"/>
            <a:ext cx="1755648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480560" y="521208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1E40AF"/>
                </a:solidFill>
                <a:latin typeface="Arial"/>
              </a:defRPr>
            </a:pPr>
            <a:r>
              <a:t>风险评分: 6/10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80560" y="54864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9CA3AF"/>
                </a:solidFill>
                <a:latin typeface="Arial"/>
              </a:defRPr>
            </a:pPr>
            <a:r>
              <a:t>应对措施: 缓存策略，水平扩展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772400" y="3931920"/>
            <a:ext cx="320040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772400" y="3931920"/>
            <a:ext cx="3200400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909560" y="406908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F2937"/>
                </a:solidFill>
                <a:latin typeface="Arial"/>
              </a:defRPr>
            </a:pPr>
            <a:r>
              <a:t>[MEDIUM] 安全风险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909560" y="438912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B7280"/>
                </a:solidFill>
                <a:latin typeface="Arial"/>
              </a:defRPr>
            </a:pPr>
            <a:r>
              <a:t>订单数据泄露风险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909560" y="5120640"/>
            <a:ext cx="2926080" cy="36576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909560" y="5120640"/>
            <a:ext cx="1463040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909560" y="5212080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1E40AF"/>
                </a:solidFill>
                <a:latin typeface="Arial"/>
              </a:defRPr>
            </a:pPr>
            <a:r>
              <a:t>风险评分: 5/10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909560" y="54864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9CA3AF"/>
                </a:solidFill>
                <a:latin typeface="Arial"/>
              </a:defRPr>
            </a:pPr>
            <a:r>
              <a:t>应对措施: 数据加密，访问控制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972800" y="63093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9CA3AF"/>
                </a:solidFill>
                <a:latin typeface="Consolas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2937"/>
                </a:solidFill>
                <a:latin typeface="Arial"/>
              </a:defRPr>
            </a:pPr>
            <a:r>
              <a:t>投资回报分析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05840"/>
            <a:ext cx="10362895" cy="635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43000"/>
            <a:ext cx="103628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B7280"/>
                </a:solidFill>
                <a:latin typeface="Arial"/>
              </a:defRPr>
            </a:pPr>
            <a:r>
              <a:t>预期效益与成本节约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463040"/>
            <a:ext cx="237744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55448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B7280"/>
                </a:solidFill>
                <a:latin typeface="Arial"/>
              </a:defRPr>
            </a:pPr>
            <a:r>
              <a:t>引入分布式锁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874519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0B981"/>
                </a:solidFill>
                <a:latin typeface="Arial"/>
              </a:defRPr>
            </a:pPr>
            <a:r>
              <a:t>¥30万/年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6888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CA3AF"/>
                </a:solidFill>
                <a:latin typeface="Arial"/>
              </a:defRPr>
            </a:pPr>
            <a:r>
              <a:t>投入 ¥5.0万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20440" y="1463040"/>
            <a:ext cx="237744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155448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B7280"/>
                </a:solidFill>
                <a:latin typeface="Arial"/>
              </a:defRPr>
            </a:pPr>
            <a:r>
              <a:t>异步支付处理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1874519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0B981"/>
                </a:solidFill>
                <a:latin typeface="Arial"/>
              </a:defRPr>
            </a:pPr>
            <a:r>
              <a:t>¥20万/年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46888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CA3AF"/>
                </a:solidFill>
                <a:latin typeface="Arial"/>
              </a:defRPr>
            </a:pPr>
            <a:r>
              <a:t>投入 ¥3.0万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1463040"/>
            <a:ext cx="237744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155448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B7280"/>
                </a:solidFill>
                <a:latin typeface="Arial"/>
              </a:defRPr>
            </a:pPr>
            <a:r>
              <a:t>智能库存预警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1874519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0B981"/>
                </a:solidFill>
                <a:latin typeface="Arial"/>
              </a:defRPr>
            </a:pPr>
            <a:r>
              <a:t>¥25万/年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246888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CA3AF"/>
                </a:solidFill>
                <a:latin typeface="Arial"/>
              </a:defRPr>
            </a:pPr>
            <a:r>
              <a:t>投入 ¥4.0万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732520" y="1463040"/>
            <a:ext cx="237744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0" y="155448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B7280"/>
                </a:solidFill>
                <a:latin typeface="Arial"/>
              </a:defRPr>
            </a:pPr>
            <a:r>
              <a:t>实时数据同步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1874519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0B981"/>
                </a:solidFill>
                <a:latin typeface="Arial"/>
              </a:defRPr>
            </a:pPr>
            <a:r>
              <a:t>¥35万/年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246888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9CA3AF"/>
                </a:solidFill>
                <a:latin typeface="Arial"/>
              </a:defRPr>
            </a:pPr>
            <a:r>
              <a:t>投入 ¥6.0万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3657600"/>
            <a:ext cx="10362895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3749039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40AF"/>
                </a:solidFill>
                <a:latin typeface="Arial"/>
              </a:defRPr>
            </a:pPr>
            <a:r>
              <a:t>年度预期效益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06908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F2937"/>
                </a:solidFill>
                <a:latin typeface="Arial"/>
              </a:defRPr>
            </a:pPr>
            <a:r>
              <a:t>指标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0" y="40690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F2937"/>
                </a:solidFill>
                <a:latin typeface="Arial"/>
              </a:defRPr>
            </a:pPr>
            <a:r>
              <a:t>当前状态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0" y="40690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F2937"/>
                </a:solidFill>
                <a:latin typeface="Arial"/>
              </a:defRPr>
            </a:pPr>
            <a:r>
              <a:t>目标状态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40690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F2937"/>
                </a:solidFill>
                <a:latin typeface="Arial"/>
              </a:defRPr>
            </a:pPr>
            <a:r>
              <a:t>改善幅度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4361688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B7280"/>
                </a:solidFill>
                <a:latin typeface="Arial"/>
              </a:defRPr>
            </a:pPr>
            <a:r>
              <a:t>处理时长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0" y="436168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Arial"/>
              </a:defRPr>
            </a:pPr>
            <a:r>
              <a:t>4.2小时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0" y="436168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Arial"/>
              </a:defRPr>
            </a:pPr>
            <a:r>
              <a:t>1.8小时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0" y="436168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B981"/>
                </a:solidFill>
                <a:latin typeface="Arial"/>
              </a:defRPr>
            </a:pPr>
            <a:r>
              <a:t>-57%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" y="4654296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B7280"/>
                </a:solidFill>
                <a:latin typeface="Arial"/>
              </a:defRPr>
            </a:pPr>
            <a:r>
              <a:t>人工审核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0" y="4654296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Arial"/>
              </a:defRPr>
            </a:pPr>
            <a:r>
              <a:t>100%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0" y="4654296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Arial"/>
              </a:defRPr>
            </a:pPr>
            <a:r>
              <a:t>40%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3840" y="4654296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B981"/>
                </a:solidFill>
                <a:latin typeface="Arial"/>
              </a:defRPr>
            </a:pPr>
            <a:r>
              <a:t>-60%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" y="4946904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B7280"/>
                </a:solidFill>
                <a:latin typeface="Arial"/>
              </a:defRPr>
            </a:pPr>
            <a:r>
              <a:t>错误率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0" y="4946904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Arial"/>
              </a:defRPr>
            </a:pPr>
            <a:r>
              <a:t>3.2%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0" y="4946904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Arial"/>
              </a:defRPr>
            </a:pPr>
            <a:r>
              <a:t>1.1%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63840" y="4946904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B981"/>
                </a:solidFill>
                <a:latin typeface="Arial"/>
              </a:defRPr>
            </a:pPr>
            <a:r>
              <a:t>-65%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" y="523951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B7280"/>
                </a:solidFill>
                <a:latin typeface="Arial"/>
              </a:defRPr>
            </a:pPr>
            <a:r>
              <a:t>人员利用率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66160" y="523951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Arial"/>
              </a:defRPr>
            </a:pPr>
            <a:r>
              <a:t>68%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0" y="523951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B7280"/>
                </a:solidFill>
                <a:latin typeface="Arial"/>
              </a:defRPr>
            </a:pPr>
            <a:r>
              <a:t>92%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63840" y="523951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B981"/>
                </a:solidFill>
                <a:latin typeface="Arial"/>
              </a:defRPr>
            </a:pPr>
            <a:r>
              <a:t>+24%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0" y="63093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9CA3AF"/>
                </a:solidFill>
                <a:latin typeface="Consolas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2937"/>
                </a:solidFill>
                <a:latin typeface="Arial"/>
              </a:defRPr>
            </a:pPr>
            <a:r>
              <a:t>实施路线图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05840"/>
            <a:ext cx="10362895" cy="635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43000"/>
            <a:ext cx="103628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6B7280"/>
                </a:solidFill>
                <a:latin typeface="Arial"/>
              </a:defRPr>
            </a:pPr>
            <a:r>
              <a:t>分阶段交付计划</a:t>
            </a:r>
          </a:p>
        </p:txBody>
      </p:sp>
      <p:pic>
        <p:nvPicPr>
          <p:cNvPr id="6" name="Picture 5" descr="chart_gantt_20eb73f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286000"/>
            <a:ext cx="9144000" cy="5486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737360" y="1463040"/>
            <a:ext cx="640080" cy="6400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37360" y="155448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第一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1737360"/>
            <a:ext cx="228600" cy="1371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2286000"/>
            <a:ext cx="237744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37744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40AF"/>
                </a:solidFill>
                <a:latin typeface="Arial"/>
              </a:defRPr>
            </a:pPr>
            <a:r>
              <a:t>基础架构  0-4周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6974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B7280"/>
                </a:solidFill>
                <a:latin typeface="Arial"/>
              </a:defRPr>
            </a:pPr>
            <a:r>
              <a:t>• 核心模块开发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990088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B7280"/>
                </a:solidFill>
                <a:latin typeface="Arial"/>
              </a:defRPr>
            </a:pPr>
            <a:r>
              <a:t>• 数据库设计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282696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B7280"/>
                </a:solidFill>
                <a:latin typeface="Arial"/>
              </a:defRPr>
            </a:pPr>
            <a:r>
              <a:t>• API接口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3400" y="1463040"/>
            <a:ext cx="640080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43400" y="155448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第二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97880" y="1737360"/>
            <a:ext cx="228600" cy="1371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520440" y="2286000"/>
            <a:ext cx="237744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0" y="237744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59E0B"/>
                </a:solidFill>
                <a:latin typeface="Arial"/>
              </a:defRPr>
            </a:pPr>
            <a:r>
              <a:t>核心功能  4-8周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4760" y="26974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B7280"/>
                </a:solidFill>
                <a:latin typeface="Arial"/>
              </a:defRPr>
            </a:pPr>
            <a:r>
              <a:t>• 订单流程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94760" y="2990088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B7280"/>
                </a:solidFill>
                <a:latin typeface="Arial"/>
              </a:defRPr>
            </a:pPr>
            <a:r>
              <a:t>• 支付集成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94760" y="3282696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B7280"/>
                </a:solidFill>
                <a:latin typeface="Arial"/>
              </a:defRPr>
            </a:pPr>
            <a:r>
              <a:t>• 库存管理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949440" y="1463040"/>
            <a:ext cx="640080" cy="6400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49440" y="155448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第三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80" y="2286000"/>
            <a:ext cx="237744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63640" y="237744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B82F6"/>
                </a:solidFill>
                <a:latin typeface="Arial"/>
              </a:defRPr>
            </a:pPr>
            <a:r>
              <a:t>优化完善  8-12周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697480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B7280"/>
                </a:solidFill>
                <a:latin typeface="Arial"/>
              </a:defRPr>
            </a:pPr>
            <a:r>
              <a:t>• 性能优化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990088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B7280"/>
                </a:solidFill>
                <a:latin typeface="Arial"/>
              </a:defRPr>
            </a:pPr>
            <a:r>
              <a:t>• 安全加固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3282696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B7280"/>
                </a:solidFill>
                <a:latin typeface="Arial"/>
              </a:defRPr>
            </a:pPr>
            <a:r>
              <a:t>• 数据分析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3093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9CA3AF"/>
                </a:solidFill>
                <a:latin typeface="Consolas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F2937"/>
                </a:solidFill>
                <a:latin typeface="Arial"/>
              </a:defRPr>
            </a:pPr>
            <a:r>
              <a:t>感谢您的关注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6B7280"/>
                </a:solidFill>
                <a:latin typeface="Arial"/>
              </a:defRPr>
            </a:pPr>
            <a:r>
              <a:t>零售电商订单管理系统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4389120"/>
            <a:ext cx="10362895" cy="635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75488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9CA3AF"/>
                </a:solidFill>
                <a:latin typeface="Arial"/>
              </a:defRPr>
            </a:pPr>
            <a:r>
              <a:t>BSC Engine · Business System Compiler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093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1">
                <a:solidFill>
                  <a:srgbClr val="9CA3AF"/>
                </a:solidFill>
                <a:latin typeface="Consolas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