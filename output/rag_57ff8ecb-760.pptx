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1828800"/>
            <a:ext cx="2743200" cy="27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828800"/>
            <a:ext cx="2743200" cy="36576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E8E8E8"/>
                </a:solidFill>
                <a:latin typeface="Segoe UI"/>
              </a:defRPr>
            </a:pPr>
            <a:r>
              <a:t>Business System 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9A84C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8B8B8"/>
                </a:solidFill>
                <a:latin typeface="Segoe UI"/>
              </a:defRPr>
            </a:pPr>
            <a:r>
              <a:t>PRD -&gt; Structured JSON -&gt; SOP -&gt; KPI -&gt;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E9E9E"/>
                </a:solidFill>
                <a:latin typeface="Segoe UI"/>
              </a:defRPr>
            </a:pPr>
            <a:r>
              <a:t>BSC Engine v5  |  neo-kinpaku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9A84C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Key metrics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E9E9E"/>
                </a:solidFill>
                <a:latin typeface="Segoe UI"/>
              </a:defRPr>
            </a:pPr>
            <a:r>
              <a:t>BSC Engine v5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9E9E9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560320" cy="164592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E9E9E"/>
                </a:solidFill>
                <a:latin typeface="Albert Sans"/>
              </a:defRPr>
            </a:pPr>
            <a:r>
              <a:t>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C9A84C"/>
                </a:solidFill>
                <a:latin typeface="DM Mono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560320" cy="164592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E9E9E"/>
                </a:solidFill>
                <a:latin typeface="Albert Sans"/>
              </a:defRPr>
            </a:pPr>
            <a:r>
              <a:t>Workflow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5A9E96"/>
                </a:solidFill>
                <a:latin typeface="DM Mono"/>
              </a:defRPr>
            </a:pPr>
            <a: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560320" cy="164592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E9E9E"/>
                </a:solidFill>
                <a:latin typeface="Albert Sans"/>
              </a:defRPr>
            </a:pPr>
            <a:r>
              <a:t>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B8923A"/>
                </a:solidFill>
                <a:latin typeface="DM Mono"/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80160"/>
            <a:ext cx="2560320" cy="164592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71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E9E9E"/>
                </a:solidFill>
                <a:latin typeface="Albert Sans"/>
              </a:defRPr>
            </a:pPr>
            <a:r>
              <a:t>Risks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C0392B"/>
                </a:solidFill>
                <a:latin typeface="DM Mono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Domain: content-safety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Objective: Content Moderation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9A84C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Decomposed system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E9E9E"/>
                </a:solidFill>
                <a:latin typeface="Segoe UI"/>
              </a:defRPr>
            </a:pPr>
            <a:r>
              <a:t>BSC Engine v5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9E9E9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394960" cy="132588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4864" cy="1325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898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Segoe UI"/>
              </a:defRPr>
            </a:pPr>
            <a:r>
              <a:t>Content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Accepts user-submitted content via API and web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8923A"/>
                </a:solidFill>
                <a:latin typeface="Segoe UI"/>
              </a:defRPr>
            </a:pPr>
            <a:r>
              <a:t>Owner: Platform Team  | 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394960" cy="132588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4864" cy="1325880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898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Segoe UI"/>
              </a:defRPr>
            </a:pPr>
            <a:r>
              <a:t>AI Screening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C0392B"/>
                </a:solidFill>
                <a:latin typeface="Segoe UI"/>
              </a:defRPr>
            </a:pPr>
            <a:r>
              <a:t>Owner: ML Team  |  CRITICAL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34640"/>
            <a:ext cx="5394960" cy="132588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834640"/>
            <a:ext cx="54864" cy="132588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4436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Segoe UI"/>
              </a:defRPr>
            </a:pPr>
            <a:r>
              <a:t>Human Review Workbench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Review queue for flagged content with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8923A"/>
                </a:solidFill>
                <a:latin typeface="Segoe UI"/>
              </a:defRPr>
            </a:pPr>
            <a:r>
              <a:t>Owner: Operations  |  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34640"/>
            <a:ext cx="5394960" cy="1325880"/>
          </a:xfrm>
          <a:prstGeom prst="round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834640"/>
            <a:ext cx="54864" cy="1325880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94436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Segoe UI"/>
              </a:defRPr>
            </a:pPr>
            <a:r>
              <a:t>Operations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Real-time dashboards for throughput and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5A9E96"/>
                </a:solidFill>
                <a:latin typeface="Segoe UI"/>
              </a:defRPr>
            </a:pPr>
            <a:r>
              <a:t>Owner: Data Team  |  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9A84C"/>
                </a:solidFill>
                <a:latin typeface="Segoe UI"/>
              </a:defRPr>
            </a:pPr>
            <a:r>
              <a:t>SOP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End-to-end process with roles &amp;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E9E9E"/>
                </a:solidFill>
                <a:latin typeface="Segoe UI"/>
              </a:defRPr>
            </a:pPr>
            <a:r>
              <a:t>BSC Engine v5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9E9E9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219156" cy="164592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Submit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Content Creator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7836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3284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16436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7876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Auto-Screening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7876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7876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0.002h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75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2820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901352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279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279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669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117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269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709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709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709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24.0h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2585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8033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071185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625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625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750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8295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56102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754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Publish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754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418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67866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41018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458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 Rejection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458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Legend: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5577840"/>
            <a:ext cx="182880" cy="1828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577840"/>
            <a:ext cx="182880" cy="182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5577840"/>
            <a:ext cx="182880" cy="1828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5577840"/>
            <a:ext cx="182880" cy="18288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5577840"/>
            <a:ext cx="182880" cy="18288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9A84C"/>
                </a:solidFill>
                <a:latin typeface="Segoe UI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Key performance indicators &amp;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E9E9E"/>
                </a:solidFill>
                <a:latin typeface="Segoe UI"/>
              </a:defRPr>
            </a:pPr>
            <a:r>
              <a:t>BSC Engine v5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9E9E9E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92608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Daily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processed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Avg Screening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sum(screen_ms) / count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Screening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correct / total *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fp / total_flagged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 Queue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count(pending)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Reviewer Utilization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active / shift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70-85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Cost Per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total_cost /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 Compliance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sla_met / total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KpiBranch.RISK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9A84C"/>
                </a:solidFill>
                <a:latin typeface="Segoe UI"/>
              </a:defRPr>
            </a:pPr>
            <a: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Risk assessment &amp; mitigation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E9E9E"/>
                </a:solidFill>
                <a:latin typeface="Segoe UI"/>
              </a:defRPr>
            </a:pPr>
            <a:r>
              <a:t>BSC Engine v5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9E9E9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74720" cy="2103120"/>
          </a:xfrm>
          <a:prstGeom prst="roundRect">
            <a:avLst/>
          </a:prstGeom>
          <a:solidFill>
            <a:srgbClr val="1C2024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AI 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Weekly model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280160"/>
            <a:ext cx="3474720" cy="2103120"/>
          </a:xfrm>
          <a:prstGeom prst="roundRect">
            <a:avLst/>
          </a:prstGeom>
          <a:solidFill>
            <a:srgbClr val="1C2024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Reviewer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Mandatory breaks + rotation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Team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280160"/>
            <a:ext cx="3474720" cy="2103120"/>
          </a:xfrm>
          <a:prstGeom prst="roundRect">
            <a:avLst/>
          </a:prstGeom>
          <a:solidFill>
            <a:srgbClr val="1C2024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1360" y="141732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Peak Volume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Auto-scale reviewer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657600"/>
            <a:ext cx="3474720" cy="2103120"/>
          </a:xfrm>
          <a:prstGeom prst="roundRect">
            <a:avLst/>
          </a:prstGeom>
          <a:solidFill>
            <a:srgbClr val="1C2024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79476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81304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API Downtime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148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3484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Multi-region failover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9A84C"/>
                </a:solidFill>
                <a:latin typeface="Segoe UI"/>
              </a:defRPr>
            </a:pPr>
            <a:r>
              <a:t>Post-Generation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8B8B8"/>
                </a:solidFill>
                <a:latin typeface="Segoe UI"/>
              </a:defRPr>
            </a:pPr>
            <a:r>
              <a:t>Complexity · Difficulty · Optimization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E9E9E"/>
                </a:solidFill>
                <a:latin typeface="Segoe UI"/>
              </a:defRPr>
            </a:pPr>
            <a:r>
              <a:t>BSC Engine v5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9E9E9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530352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Complexity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3151"/>
                </a:solidFill>
                <a:latin typeface="Segoe UI"/>
              </a:defRPr>
            </a:pPr>
            <a:r>
              <a:t>Level: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D3436"/>
                </a:solidFill>
                <a:latin typeface="Segoe UI"/>
              </a:defRPr>
            </a:pPr>
            <a:r>
              <a:t>Overall Score: 8.6/10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Modules: 6.5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Workflow: 10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Metrics: 8.9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Risk: 8.8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30352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Implementation Difficulty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3151"/>
                </a:solidFill>
                <a:latin typeface="Segoe UI"/>
              </a:defRPr>
            </a:pPr>
            <a:r>
              <a:t>Tier: COMPLEX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D3436"/>
                </a:solidFill>
                <a:latin typeface="Segoe UI"/>
              </a:defRPr>
            </a:pPr>
            <a:r>
              <a:t>Score: 6.8/10  |  Est: {'minimum': 6, 'likely': 8, 'maximum': 12} weeks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Integration: 4.5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Process: 8.2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Data: 7.4</a:t>
            </a:r>
          </a:p>
          <a:p>
            <a:pPr>
              <a:spcAft>
                <a:spcPts val="400"/>
              </a:spcAft>
              <a:defRPr sz="1000" b="0">
                <a:solidFill>
                  <a:srgbClr val="636E72"/>
                </a:solidFill>
                <a:latin typeface="Segoe UI"/>
              </a:defRPr>
            </a:pPr>
            <a:r>
              <a:t>  Risk: 7.0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02920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371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Optimization Hints 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9164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E86AB"/>
                </a:solidFill>
                <a:latin typeface="Segoe UI"/>
              </a:defRPr>
            </a:pPr>
            <a:r>
              <a:t>[LOW] sla_partial</a:t>
            </a:r>
          </a:p>
          <a:p>
            <a:pPr>
              <a:spcAft>
                <a:spcPts val="400"/>
              </a:spcAft>
              <a:defRPr sz="900" b="0">
                <a:solidFill>
                  <a:srgbClr val="636E72"/>
                </a:solidFill>
                <a:latin typeface="Segoe UI"/>
              </a:defRPr>
            </a:pPr>
            <a:r>
              <a:t>  Only 2/7 nodes have SLA. Consider broader coverage.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434840"/>
            <a:ext cx="50292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Missing Roles (4)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4A261"/>
                </a:solidFill>
                <a:latin typeface="Segoe UI"/>
              </a:defRPr>
            </a:pPr>
            <a:r>
              <a:t>Role: ai system</a:t>
            </a:r>
          </a:p>
          <a:p>
            <a:pPr>
              <a:spcAft>
                <a:spcPts val="400"/>
              </a:spcAft>
              <a:defRPr sz="900" b="0">
                <a:solidFill>
                  <a:srgbClr val="636E72"/>
                </a:solidFill>
                <a:latin typeface="Segoe UI"/>
              </a:defRPr>
            </a:pPr>
            <a:r>
              <a:t>  Used in: AI Auto-Screening, Risk Classification</a:t>
            </a:r>
          </a:p>
          <a:p>
            <a:pPr>
              <a:spcAft>
                <a:spcPts val="400"/>
              </a:spcAft>
              <a:defRPr sz="900" b="1">
                <a:solidFill>
                  <a:srgbClr val="F4A261"/>
                </a:solidFill>
                <a:latin typeface="Segoe UI"/>
              </a:defRPr>
            </a:pPr>
            <a:r>
              <a:t>Role: content creator</a:t>
            </a:r>
          </a:p>
          <a:p>
            <a:pPr>
              <a:spcAft>
                <a:spcPts val="400"/>
              </a:spcAft>
              <a:defRPr sz="900" b="0">
                <a:solidFill>
                  <a:srgbClr val="636E72"/>
                </a:solidFill>
                <a:latin typeface="Segoe UI"/>
              </a:defRPr>
            </a:pPr>
            <a:r>
              <a:t>  Used in: Submit Content</a:t>
            </a:r>
          </a:p>
          <a:p>
            <a:pPr>
              <a:spcAft>
                <a:spcPts val="400"/>
              </a:spcAft>
              <a:defRPr sz="900" b="1">
                <a:solidFill>
                  <a:srgbClr val="F4A261"/>
                </a:solidFill>
                <a:latin typeface="Segoe UI"/>
              </a:defRPr>
            </a:pPr>
            <a:r>
              <a:t>Role: human reviewer</a:t>
            </a:r>
          </a:p>
          <a:p>
            <a:pPr>
              <a:spcAft>
                <a:spcPts val="400"/>
              </a:spcAft>
              <a:defRPr sz="900" b="0">
                <a:solidFill>
                  <a:srgbClr val="636E72"/>
                </a:solidFill>
                <a:latin typeface="Segoe UI"/>
              </a:defRPr>
            </a:pPr>
            <a:r>
              <a:t>  Used in: Human Review, Review Decision</a:t>
            </a:r>
          </a:p>
          <a:p>
            <a:pPr>
              <a:spcAft>
                <a:spcPts val="400"/>
              </a:spcAft>
              <a:defRPr sz="900" b="1">
                <a:solidFill>
                  <a:srgbClr val="F4A261"/>
                </a:solidFill>
                <a:latin typeface="Segoe UI"/>
              </a:defRPr>
            </a:pPr>
            <a:r>
              <a:t>Role: system</a:t>
            </a:r>
          </a:p>
          <a:p>
            <a:pPr>
              <a:spcAft>
                <a:spcPts val="400"/>
              </a:spcAft>
              <a:defRPr sz="900" b="0">
                <a:solidFill>
                  <a:srgbClr val="636E72"/>
                </a:solidFill>
                <a:latin typeface="Segoe UI"/>
              </a:defRPr>
            </a:pPr>
            <a:r>
              <a:t>  Used in: Publish Content, Notify Rejection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C9A84C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8B8B8"/>
                </a:solidFill>
                <a:latin typeface="Segoe UI"/>
              </a:defRPr>
            </a:pPr>
            <a:r>
              <a:t>BSC Engine v5  |  Business System 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E9E9E"/>
                </a:solidFill>
                <a:latin typeface="Segoe UI"/>
              </a:defRPr>
            </a:pPr>
            <a:r>
              <a:t>PRD -&gt; Business Blueprint -&gt; SOP -&gt; KPI -&gt; Dashboard -&gt; Decision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E9E9E"/>
                </a:solidFill>
                <a:latin typeface="Segoe UI"/>
              </a:defRPr>
            </a:pPr>
            <a:r>
              <a:t>Generated by BSC Engine  |  neo-kinpaku design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