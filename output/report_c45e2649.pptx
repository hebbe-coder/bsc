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800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00600"/>
            <a:ext cx="12191695" cy="2057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0F172A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4000" b="1">
                <a:solidFill>
                  <a:srgbClr val="0F172A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 b="0">
                <a:solidFill>
                  <a:srgbClr val="0F172A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37160" cy="5486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行业：retail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2026年07月07日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64748B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F1F5F9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4231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06B6D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4231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8B5CF6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371600"/>
            <a:ext cx="2423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10B9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1371600"/>
            <a:ext cx="2423160" cy="14630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1371600"/>
            <a:ext cx="24231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508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EF444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08960"/>
            <a:ext cx="10728655" cy="1097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06B6D4"/>
                </a:solidFill>
                <a:latin typeface="Arial"/>
              </a:defRPr>
            </a:pPr>
            <a:r>
              <a:t>业务目标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5204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b="0">
                <a:solidFill>
                  <a:srgbClr val="F1F5F9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4572000" cy="381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06B6D4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F1F5F9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F1F5F9"/>
                </a:solidFill>
                <a:latin typeface="Arial"/>
              </a:defRPr>
            </a:pPr>
            <a:r>
              <a:t>2. 支付模块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F1F5F9"/>
                </a:solidFill>
                <a:latin typeface="Arial"/>
              </a:defRPr>
            </a:pPr>
            <a:r>
              <a:t>3. 库存模块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F1F5F9"/>
                </a:solidFill>
                <a:latin typeface="Arial"/>
              </a:defRPr>
            </a:pPr>
            <a:r>
              <a:t>4. 物流模块</a:t>
            </a:r>
          </a:p>
          <a:p>
            <a:pPr>
              <a:lnSpc>
                <a:spcPct val="120000"/>
              </a:lnSpc>
              <a:defRPr sz="1000" b="0">
                <a:solidFill>
                  <a:srgbClr val="F1F5F9"/>
                </a:solidFill>
                <a:latin typeface="Arial"/>
              </a:defRPr>
            </a:pPr>
            <a:r>
              <a:t>5. 售后模块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94A3B8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F1F5F9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94A3B8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074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F1F5F9"/>
                </a:solidFill>
                <a:latin typeface="Arial"/>
              </a:defRPr>
            </a:pPr>
            <a:r>
              <a:t>PPTX, HTML, 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94A3B8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F1F5F9"/>
                </a:solidFill>
                <a:latin typeface="Arial"/>
              </a:defRPr>
            </a:pPr>
            <a:r>
              <a:t>业务理解、流程设计、风险评估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F1F5F9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F1F5F9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依赖: 用户模块, 商品模块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29184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54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F1F5F9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461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依赖: 订单模块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37160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371600"/>
            <a:ext cx="32918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F1F5F9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9202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461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依赖: 商品模块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931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F1F5F9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依赖: 订单模块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93192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931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114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F1F5F9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806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依赖: 订单模块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931920"/>
            <a:ext cx="3291840" cy="2286000"/>
          </a:xfrm>
          <a:prstGeom prst="rect">
            <a:avLst>
              <a:gd name="roundt" fmla="val 2000.0"/>
              <a:gd name="roundb" fmla="val 2000.0"/>
              <a:gd name="roundl" fmla="val 2000.0"/>
              <a:gd name="roundr" fmla="val 2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39319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4114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F1F5F9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480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80643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依赖: 订单模块, 库存模块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F1F5F9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447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F172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89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1F5F9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459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44752"/>
            <a:ext cx="13716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463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06B6D4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4447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1783080"/>
            <a:ext cx="13716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057400"/>
            <a:ext cx="41148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1305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F172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075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1F5F9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3317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130552"/>
            <a:ext cx="13716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148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8B5CF6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1305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2468880"/>
            <a:ext cx="13716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28163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F172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7614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1F5F9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0175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816352"/>
            <a:ext cx="13716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8346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22D3EE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8163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3154680"/>
            <a:ext cx="13716" cy="2743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429000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5021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F172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4472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1F5F9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37033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502152"/>
            <a:ext cx="13716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3520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10B981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5021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" y="3840480"/>
            <a:ext cx="13716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41879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F172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133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1F5F9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3891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4187952"/>
            <a:ext cx="13716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4206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F59E0B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1879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" y="4526280"/>
            <a:ext cx="13716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4800600"/>
            <a:ext cx="4114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48737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F172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4818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1F5F9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50749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4873752"/>
            <a:ext cx="13716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4892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EF4444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48737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" y="5212080"/>
            <a:ext cx="13716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" y="5486400"/>
            <a:ext cx="4114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" y="55595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F172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504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1F5F9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57607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5559552"/>
            <a:ext cx="13716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55778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1">
                <a:solidFill>
                  <a:srgbClr val="06B6D4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0" y="55595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" y="5897880"/>
            <a:ext cx="13716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6172200"/>
            <a:ext cx="41148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" y="624535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1">
                <a:solidFill>
                  <a:srgbClr val="0F172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160" y="61904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F1F5F9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644652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624535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F1F5F9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可量化指标与目标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06B6D4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8B5CF6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22D3EE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37160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6304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69164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10B981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46888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56032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278892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06B6D4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468880"/>
            <a:ext cx="2286000" cy="960120"/>
          </a:xfrm>
          <a:prstGeom prst="rect">
            <a:avLst>
              <a:gd name="roundt" fmla="val 1000.0"/>
              <a:gd name="roundb" fmla="val 1000.0"/>
              <a:gd name="roundl" fmla="val 1000.0"/>
              <a:gd name="roundr" fmla="val 10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560320"/>
            <a:ext cx="206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2788920"/>
            <a:ext cx="20665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000" b="1">
                <a:solidFill>
                  <a:srgbClr val="8B5CF6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F1F5F9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风险矩阵与应对策略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514600"/>
            <a:ext cx="30175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514600"/>
            <a:ext cx="2715768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06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EF4444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应对: 使用分布式锁，预扣库存机制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508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514600"/>
            <a:ext cx="30175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514600"/>
            <a:ext cx="2112263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606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应对: 异步处理，超时重试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37160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37160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508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828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514600"/>
            <a:ext cx="30175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2514600"/>
            <a:ext cx="15087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6060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应对: 定时拉取，增量更新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93192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393192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5074920"/>
            <a:ext cx="30175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5074920"/>
            <a:ext cx="2414016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166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440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应对: 统一数据中台，实时同步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393192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80" y="393192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5074920"/>
            <a:ext cx="30175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34840" y="5074920"/>
            <a:ext cx="1810511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5166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440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应对: 缓存策略，水平扩展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3931920"/>
            <a:ext cx="3291840" cy="22860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63840" y="393192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40690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94A3B8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5074920"/>
            <a:ext cx="30175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01000" y="5074920"/>
            <a:ext cx="15087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5166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06B6D4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5440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700" b="0">
                <a:solidFill>
                  <a:srgbClr val="64748B"/>
                </a:solidFill>
                <a:latin typeface="Arial"/>
              </a:defRPr>
            </a:pPr>
            <a:r>
              <a:t>应对: 数据加密，访问控制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F1F5F9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3774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10B981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371600"/>
            <a:ext cx="23774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06B6D4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371600"/>
            <a:ext cx="23774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8B5CF6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1371600"/>
            <a:ext cx="2377440" cy="16459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1371600"/>
            <a:ext cx="23774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9368" y="14630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173736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22D3EE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224028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291840"/>
            <a:ext cx="10728655" cy="256032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383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06B6D4"/>
                </a:solidFill>
                <a:latin typeface="Arial"/>
              </a:defRPr>
            </a:pPr>
            <a:r>
              <a:t>年度预期效益对比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74903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1">
                <a:solidFill>
                  <a:srgbClr val="F1F5F9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F1F5F9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F1F5F9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7490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1">
                <a:solidFill>
                  <a:srgbClr val="F1F5F9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005071"/>
            <a:ext cx="10362895" cy="45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6907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0690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0690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06907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0B981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325111"/>
            <a:ext cx="10362895" cy="45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38911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38911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38911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38911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0B981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4645151"/>
            <a:ext cx="10362895" cy="45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7091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7091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47091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70915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0B981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965191"/>
            <a:ext cx="10362895" cy="45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02919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0291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02919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02919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900" b="0">
                <a:solidFill>
                  <a:srgbClr val="10B981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F1F5F9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分阶段交付计划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1371600"/>
            <a:ext cx="68580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737360"/>
            <a:ext cx="182880" cy="137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2377440" cy="3383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774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06B6D4"/>
                </a:solidFill>
                <a:latin typeface="Arial"/>
              </a:defRPr>
            </a:pPr>
            <a:r>
              <a:t>基础架构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51760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0-4周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371600"/>
            <a:ext cx="68580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737360"/>
            <a:ext cx="182880" cy="137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286000"/>
            <a:ext cx="2377440" cy="3383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23774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8B5CF6"/>
                </a:solidFill>
                <a:latin typeface="Arial"/>
              </a:defRPr>
            </a:pPr>
            <a:r>
              <a:t>核心功能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2651760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4-8周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371600"/>
            <a:ext cx="68580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14630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0F172A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86000"/>
            <a:ext cx="2377440" cy="338328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2377440"/>
            <a:ext cx="2157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1">
                <a:solidFill>
                  <a:srgbClr val="22D3EE"/>
                </a:solidFill>
                <a:latin typeface="Arial"/>
              </a:defRPr>
            </a:pPr>
            <a:r>
              <a:t>优化完善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2651760"/>
            <a:ext cx="21579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8-12周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971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5204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 b="0">
                <a:solidFill>
                  <a:srgbClr val="94A3B8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400" b="1">
                <a:solidFill>
                  <a:srgbClr val="F1F5F9"/>
                </a:solidFill>
                <a:latin typeface="Arial"/>
              </a:defRPr>
            </a:pPr>
            <a:r>
              <a:t>对比分析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728655" cy="127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94A3B8"/>
                </a:solidFill>
                <a:latin typeface="Arial"/>
              </a:defRPr>
            </a:pPr>
            <a:r>
              <a:t>现状与目标差距分析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91440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94A3B8"/>
                </a:solidFill>
                <a:latin typeface="Arial"/>
              </a:defRPr>
            </a:pPr>
            <a:r>
              <a:t>处理效率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F1F5F9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06B6D4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468880"/>
            <a:ext cx="2157984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2468880"/>
            <a:ext cx="92485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94A3B8"/>
                </a:solidFill>
                <a:latin typeface="Arial"/>
              </a:defRPr>
            </a:pPr>
            <a:r>
              <a:t>人工审核率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F1F5F9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F59E0B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47288" y="2468880"/>
            <a:ext cx="2157984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47288" y="2468880"/>
            <a:ext cx="863193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94A3B8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F1F5F9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EF4444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2468880"/>
            <a:ext cx="2157984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53328" y="2468880"/>
            <a:ext cx="741806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9640" y="1371600"/>
            <a:ext cx="2377440" cy="182880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8" y="1463040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94A3B8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8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当前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9368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F1F5F9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1828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 b="0">
                <a:solidFill>
                  <a:srgbClr val="64748B"/>
                </a:solidFill>
                <a:latin typeface="Arial"/>
              </a:defRPr>
            </a:pPr>
            <a:r>
              <a:t>目标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2057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 b="1">
                <a:solidFill>
                  <a:srgbClr val="10B981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59368" y="2468880"/>
            <a:ext cx="2157984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59368" y="2468880"/>
            <a:ext cx="2157984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474720"/>
            <a:ext cx="10728655" cy="2377440"/>
          </a:xfrm>
          <a:prstGeom prst="rect">
            <a:avLst>
              <a:gd name="roundt" fmla="val 1500.0"/>
              <a:gd name="roundb" fmla="val 1500.0"/>
              <a:gd name="roundl" fmla="val 1500.0"/>
              <a:gd name="roundr" fmla="val 1500.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8B5CF6"/>
                </a:solidFill>
                <a:latin typeface="Arial"/>
              </a:defRPr>
            </a:pPr>
            <a:r>
              <a:t>关键改进措施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39319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1. 引入分布式锁</a:t>
            </a:r>
          </a:p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2. 异步支付处理</a:t>
            </a:r>
          </a:p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3. 智能库存预警</a:t>
            </a:r>
          </a:p>
          <a:p>
            <a:pPr>
              <a:lnSpc>
                <a:spcPct val="120000"/>
              </a:lnSpc>
              <a:defRPr sz="1000" b="1">
                <a:solidFill>
                  <a:srgbClr val="F1F5F9"/>
                </a:solidFill>
                <a:latin typeface="Arial"/>
              </a:defRPr>
            </a:pPr>
            <a:r>
              <a:t>4. 实时数据同步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3600" b="1">
                <a:solidFill>
                  <a:srgbClr val="0F172A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0">
                <a:solidFill>
                  <a:srgbClr val="0F172A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37160" cy="5486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 b="0">
                <a:solidFill>
                  <a:srgbClr val="64748B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800" b="1">
                <a:solidFill>
                  <a:srgbClr val="64748B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