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64592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Inter"/>
              </a:defRPr>
            </a:pPr>
            <a:r>
              <a:t>BSC Studio Investor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4D4D2"/>
                </a:solidFill>
                <a:latin typeface="Inter"/>
              </a:defRPr>
            </a:pPr>
            <a:r>
              <a:t>Business System Blueprint  ·  Executive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JetBrains Mono"/>
              </a:defRPr>
            </a:pPr>
            <a:r>
              <a:t>Generated by BSC Studio  ·  9 Modules  ·  5 Processes  ·  3 KPIs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High-level overview of the business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HEALTH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  <a:latin typeface="Inter"/>
              </a:defRPr>
            </a:pPr>
            <a:r>
              <a:t>80.2/100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645920"/>
            <a:ext cx="2560320" cy="128016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37373"/>
                </a:solidFill>
                <a:latin typeface="Inter"/>
              </a:defRPr>
            </a:pPr>
            <a:r>
              <a:t>KPIs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1031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2FA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9184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Health Status: healthy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Top Bottlenecks: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'34 automated tests with 100% pass rate', 'type': 'unowned_step', 'severity': 'medium', 'impact': 'Process step has no human owner assigned.', 'fix': "Assign a responsible role to '34 automated tests with 100% pass rate'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'. 12 intent classifications with 40+ keyword matching', 'type': 'unowned_step', 'severity': 'medium', 'impact': 'Process step has no human owner assigned.', 'fix': "Assign a responsible role to '. 12 intent classifications with 40+ keyword matching' step."}</a:t>
            </a:r>
          </a:p>
          <a:p>
            <a:pPr>
              <a:spcAft>
                <a:spcPts val="600"/>
              </a:spcAft>
              <a:defRPr sz="1300">
                <a:solidFill>
                  <a:srgbClr val="0A0A0A"/>
                </a:solidFill>
                <a:latin typeface="Inter"/>
              </a:defRPr>
            </a:pPr>
            <a:r>
              <a:t>  ·  {'node': '. 6 industry templates including content moderation, custome', 'type': 'unowned_step', 'severity': 'medium', 'impact': 'Process step has no human owner assigned.', 'fix': "Assign a responsible role to '. 6 industry templates including content moderation, custome' step."}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Business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Core business components and their functions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Backend??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FastAPI (Python) with modular agent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Frontend??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One-click SaaS UI with textarea + analyze button, Swiss IKB design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55448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737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AI Layer??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LLM orchestration with goal routing, intent detection, and 5-agent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Storage??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SQLite with PostgreSQL scalability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93192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Asset output??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PPTX (7-slide consulting format), HTML dashboard (Mermaid + Chart.js), XLSX, PDF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93192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4114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572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API response time??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&lt;100ms for static, &lt;500ms for full pipeline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630936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6492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6949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Agent pipeline??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406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5 agents, ~70ms total execution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630936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6492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6949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PPT generation??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7406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7-slide consulting deck in ~40ms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63840" y="6309360"/>
            <a:ext cx="3200400" cy="20116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6492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JetBrains Mono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69494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HTML dashboard??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74066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72KB interactive with workflow graph, KPI cards, risk heatmap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Workflow &amp; Process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End-to-end business process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26767" y="2926080"/>
            <a:ext cx="1371600" cy="1097280"/>
          </a:xfrm>
          <a:prstGeom prst="roundRect">
            <a:avLst/>
          </a:prstGeom>
          <a:solidFill>
            <a:srgbClr val="F0F0EE"/>
          </a:solidFill>
          <a:ln w="1905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1820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34 automated tests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820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98367" y="3401568"/>
            <a:ext cx="274320" cy="146304"/>
          </a:xfrm>
          <a:prstGeom prst="rightArrow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18407" y="2926080"/>
            <a:ext cx="1371600" cy="10972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984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. 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84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click simplicit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90007" y="3401568"/>
            <a:ext cx="274320" cy="146304"/>
          </a:xfrm>
          <a:prstGeom prst="rightArrow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10047" y="2926080"/>
            <a:ext cx="1371600" cy="10972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148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. Consulting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148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grade output - 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81647" y="3401568"/>
            <a:ext cx="274320" cy="146304"/>
          </a:xfrm>
          <a:prstGeom prst="rightArrow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01687" y="2926080"/>
            <a:ext cx="1371600" cy="10972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312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. 12 intent classifi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473287" y="3401568"/>
            <a:ext cx="274320" cy="146304"/>
          </a:xfrm>
          <a:prstGeom prst="rightArrow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93327" y="2926080"/>
            <a:ext cx="1371600" cy="109728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84767" y="3063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A0A0A"/>
                </a:solidFill>
                <a:latin typeface="Inter"/>
              </a:defRPr>
            </a:pPr>
            <a:r>
              <a:t>. 6 industry templat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4767" y="3566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37373"/>
                </a:solidFill>
                <a:latin typeface="Inter"/>
              </a:defRPr>
            </a:pPr>
            <a: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292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737373"/>
                </a:solidFill>
                <a:latin typeface="Inter"/>
              </a:defRPr>
            </a:pPr>
            <a:r>
              <a:t>Key Metrics:  API response time: &lt; 100ms  |  Agent pipeline: 5 agents, ~70ms total execution  |  PPT generation: 7-slide consulting deck in ~40ms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KPI &amp; Metrics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Measurable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API 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&lt; 100ms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avg(processing_time)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Agent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5 agents, ~70ms total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measure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645920"/>
            <a:ext cx="3017520" cy="1828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9" y="1783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PPT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1945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2FA7"/>
                </a:solidFill>
                <a:latin typeface="JetBrains Mono"/>
              </a:defRPr>
            </a:pPr>
            <a:r>
              <a:t>7-slide consulting deck in ~40ms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8346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37373"/>
                </a:solidFill>
                <a:latin typeface="JetBrains Mono"/>
              </a:defRPr>
            </a:pPr>
            <a:r>
              <a:t>f(x) =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Risk Assessment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Risk analysis and control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73152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645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A0A0A"/>
                </a:solidFill>
                <a:latin typeface="Inter"/>
              </a:defRPr>
            </a:pPr>
            <a:r>
              <a:t>Operational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97316"/>
                </a:solidFill>
                <a:latin typeface="JetBrains Mono"/>
              </a:defRPr>
            </a:pPr>
            <a:r>
              <a:t>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Mitigation: 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6576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Inter"/>
              </a:defRPr>
            </a:pPr>
            <a:r>
              <a:t>Strategic recommendations for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556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34 automated tests with 100% pass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755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700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. 12 intent classifications with 40+ keyword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700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4747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661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5844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Resolve bottleneck: . 6 industry templates including content moderation, custome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5844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3891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48055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4988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Fix metric: Agent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4988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303520"/>
            <a:ext cx="9966960" cy="685800"/>
          </a:xfrm>
          <a:prstGeom prst="roundRect">
            <a:avLst/>
          </a:prstGeom>
          <a:solidFill>
            <a:srgbClr val="F0F0EE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394959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FA7"/>
                </a:solidFill>
                <a:latin typeface="JetBrains Mono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4132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A0A0A"/>
                </a:solidFill>
                <a:latin typeface="Inter"/>
              </a:defRPr>
            </a:pPr>
            <a:r>
              <a:t>Fix metric: PPT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4132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97316"/>
                </a:solidFill>
                <a:latin typeface="JetBrains Mono"/>
              </a:defRPr>
            </a:pPr>
            <a:r>
              <a:t>P:medium ROI:—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37373"/>
                </a:solidFill>
                <a:latin typeface="JetBrains Mono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