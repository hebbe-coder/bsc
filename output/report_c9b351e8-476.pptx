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0" y="-914400"/>
            <a:ext cx="3657600" cy="36576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0" y="4114800"/>
            <a:ext cx="3200400" cy="32004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48640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B2BEC3"/>
                </a:solidFill>
                <a:latin typeface="Segoe UI"/>
              </a:defRPr>
            </a:pPr>
            <a:r>
              <a:t>BSC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9144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Business System Compiler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9144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2E86AB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Domain: content-safety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  <a:r>
              <a:t>Generated: 2026-07-03 22:14</a:t>
            </a:r>
          </a:p>
          <a:p>
            <a:pPr>
              <a:spcAft>
                <a:spcPts val="400"/>
              </a:spcAft>
              <a:defRPr sz="1100" b="0">
                <a:solidFill>
                  <a:srgbClr val="B2BEC3"/>
                </a:solidFill>
                <a:latin typeface="Segoe U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636E72"/>
                </a:solidFill>
                <a:latin typeface="Segoe UI"/>
              </a:defRPr>
            </a:pPr>
            <a:r>
              <a:t>Confidential —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metrics &amp; business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E86AB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Process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1B3A5C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KPIs Tracked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CA02C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280160"/>
            <a:ext cx="246888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371600"/>
            <a:ext cx="21945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Risks Identified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1627632"/>
            <a:ext cx="21945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E8315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2560320"/>
            <a:ext cx="10728655" cy="822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2651760"/>
            <a:ext cx="10362895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636E72"/>
                </a:solidFill>
                <a:latin typeface="Segoe UI"/>
              </a:defRPr>
            </a:pPr>
            <a:r>
              <a:t>Business Objective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88036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B3A5C"/>
                </a:solidFill>
                <a:latin typeface="Segoe UI"/>
              </a:defRPr>
            </a:pPr>
            <a:r>
              <a:t>Content Moderation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Content Ingestion  —  Platform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AI Screening Engine  —  ML Team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Human Review Workbench  —  Operations</a:t>
            </a:r>
          </a:p>
          <a:p>
            <a:pPr>
              <a:spcAft>
                <a:spcPts val="400"/>
              </a:spcAft>
              <a:defRPr sz="1100" b="0">
                <a:solidFill>
                  <a:srgbClr val="2D3436"/>
                </a:solidFill>
                <a:latin typeface="Segoe UI"/>
              </a:defRPr>
            </a:pPr>
            <a:r>
              <a:t>▸ Operations Analytics  —  Data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B3A5C"/>
                </a:solidFill>
                <a:latin typeface="Segoe UI"/>
              </a:defRPr>
            </a:pPr>
            <a:r>
              <a:t>Process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3977640"/>
            <a:ext cx="365760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41605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Submit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AI Auto-Screening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Risk Classification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Human Review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Review Decision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Publish Content → </a:t>
            </a:r>
          </a:p>
          <a:p>
            <a:pPr>
              <a:spcAft>
                <a:spcPts val="400"/>
              </a:spcAft>
              <a:defRPr sz="1000" b="0">
                <a:solidFill>
                  <a:srgbClr val="2D3436"/>
                </a:solidFill>
                <a:latin typeface="Segoe UI"/>
              </a:defRPr>
            </a:pPr>
            <a:r>
              <a:t>Notify Rejection 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Business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System component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280160"/>
            <a:ext cx="54864" cy="2103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Content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Accepts user-submitted content via API and web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Platform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74320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1280160"/>
            <a:ext cx="54864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41732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AI Screening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178308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Automated screening for sensitive words and policy violations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2743200"/>
            <a:ext cx="1097280" cy="32004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87000" y="277063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CRITICAL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657600"/>
            <a:ext cx="54864" cy="210312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Human Review Workbench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Review queue for flagged content with audit log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Operations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5120640"/>
            <a:ext cx="10972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44068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Depends on: ai-screening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657600"/>
            <a:ext cx="521208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54864" cy="210312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794760"/>
            <a:ext cx="4754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B3A5C"/>
                </a:solidFill>
                <a:latin typeface="Segoe UI"/>
              </a:defRPr>
            </a:pPr>
            <a:r>
              <a:t>Operations Analytics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1605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36E72"/>
                </a:solidFill>
                <a:latin typeface="Segoe UI"/>
              </a:defRPr>
            </a:pPr>
            <a:r>
              <a:t>Real-time dashboards for throughput and SLA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5166360"/>
            <a:ext cx="27432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Owner: Data Team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5120640"/>
            <a:ext cx="10972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7000" y="5148072"/>
            <a:ext cx="1005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1">
                <a:solidFill>
                  <a:srgbClr val="FFFFFF"/>
                </a:solidFill>
                <a:latin typeface="Segoe UI"/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SOP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End-to-end process with roles &amp;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219156" cy="164592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Submit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Content Creator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87836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3284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316436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7876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AI Auto-Screening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7876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7876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0.002h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75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2820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3901352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279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Risk Classification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279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AI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669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13117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269" y="2377440"/>
            <a:ext cx="1219156" cy="164592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77709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Human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709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709" y="3566160"/>
            <a:ext cx="1036276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700" b="0">
                <a:solidFill>
                  <a:srgbClr val="FFFFFF"/>
                </a:solidFill>
                <a:latin typeface="Segoe UI"/>
              </a:defRPr>
            </a:pPr>
            <a:r>
              <a:t>SLA: 24.0h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42585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998033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iamond 30"/>
          <p:cNvSpPr/>
          <p:nvPr/>
        </p:nvSpPr>
        <p:spPr>
          <a:xfrm>
            <a:off x="7071185" y="2377440"/>
            <a:ext cx="1219156" cy="1645920"/>
          </a:xfrm>
          <a:prstGeom prst="diamond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62625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Review Decision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2625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Human Reviewer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27502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82950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656102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7542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Publish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47542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418" y="3182112"/>
            <a:ext cx="228600" cy="36576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167866" y="3145536"/>
            <a:ext cx="73152" cy="109728"/>
          </a:xfrm>
          <a:prstGeom prst="rect">
            <a:avLst/>
          </a:prstGeom>
          <a:solidFill>
            <a:srgbClr val="B2BE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41018" y="2377440"/>
            <a:ext cx="1219156" cy="164592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332458" y="2560320"/>
            <a:ext cx="1036276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Notify Rejection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2458" y="3108960"/>
            <a:ext cx="103627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800" b="0">
                <a:solidFill>
                  <a:srgbClr val="FFFFFF"/>
                </a:solidFill>
                <a:latin typeface="Segoe UI"/>
              </a:defRPr>
            </a:pPr>
            <a:r>
              <a:t>System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303520"/>
            <a:ext cx="18288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Legend: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97280" y="5577840"/>
            <a:ext cx="182880" cy="182880"/>
          </a:xfrm>
          <a:prstGeom prst="roundRect">
            <a:avLst/>
          </a:prstGeom>
          <a:solidFill>
            <a:srgbClr val="2CA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37160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5577840"/>
            <a:ext cx="182880" cy="1828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472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Action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303520" y="5577840"/>
            <a:ext cx="182880" cy="18288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7784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06640" y="5577840"/>
            <a:ext cx="182880" cy="182880"/>
          </a:xfrm>
          <a:prstGeom prst="roundRect">
            <a:avLst/>
          </a:prstGeom>
          <a:solidFill>
            <a:srgbClr val="9467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509760" y="5577840"/>
            <a:ext cx="182880" cy="182880"/>
          </a:xfrm>
          <a:prstGeom prst="roundRect">
            <a:avLst/>
          </a:prstGeom>
          <a:solidFill>
            <a:srgbClr val="E83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5559552"/>
            <a:ext cx="13716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Key performance indicators &amp; 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371600"/>
          <a:ext cx="1078992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926080"/>
                <a:gridCol w="2286000"/>
                <a:gridCol w="2286000"/>
              </a:tblGrid>
              <a:tr h="4114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Branch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Daily Throughput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processed /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Avg Screening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sum(screen_ms) / count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500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KpiBranch.EFFICIENCY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Screening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correct / total *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False Positive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fp / total_flagged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KpiBranch.QUALITY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 Queue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count(pending)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Reviewer Utilization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active / shift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70-85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KpiBranch.CAPACITY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Cost Per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total_cost / reviewed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&lt; 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KpiBranch.COST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 Compliance Rate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sla_met / total * 100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&gt; 99.5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6"/>
                          </a:solidFill>
                          <a:latin typeface="Segoe UI"/>
                        </a:defRPr>
                      </a:pPr>
                      <a:r>
                        <a:t>KpiBranch.RISK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Risk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728655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B2BEC3"/>
                </a:solidFill>
                <a:latin typeface="Segoe UI"/>
              </a:defRPr>
            </a:pPr>
            <a:r>
              <a:t>Risk assessment &amp; mitigation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B2BEC3"/>
                </a:solidFill>
                <a:latin typeface="Segoe UI"/>
              </a:defRPr>
            </a:pPr>
            <a:r>
              <a:t>BSC · Business System Compiler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800" b="0">
                <a:solidFill>
                  <a:srgbClr val="B2BEC3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AI False Negatives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Weekly model retraining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ML Team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32320" y="1417320"/>
            <a:ext cx="640080" cy="32004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Reviewer Fatigue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MEDIUM  |  Impact: 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Mandatory breaks + rotation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Team Lead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128016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881360" y="141732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81360" y="143560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4173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Peak Volume Overload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17373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057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24028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Auto-scale reviewer pool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0896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657600"/>
            <a:ext cx="3474720" cy="2103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383280" y="3794760"/>
            <a:ext cx="640080" cy="32004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3813048"/>
            <a:ext cx="640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B3A5C"/>
                </a:solidFill>
                <a:latin typeface="Segoe UI"/>
              </a:defRPr>
            </a:pPr>
            <a:r>
              <a:t>API Downtime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1148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636E72"/>
                </a:solidFill>
                <a:latin typeface="Segoe UI"/>
              </a:defRPr>
            </a:pPr>
            <a:r>
              <a:t>Probability: LOW  |  Impact: HIGH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43484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636E72"/>
                </a:solidFill>
                <a:latin typeface="Segoe UI"/>
              </a:defRPr>
            </a:pPr>
            <a:r>
              <a:t>Mitigation: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31089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2D3436"/>
                </a:solidFill>
                <a:latin typeface="Segoe UI"/>
              </a:defRPr>
            </a:pPr>
            <a:r>
              <a:t>Multi-region failover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86400"/>
            <a:ext cx="31089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1">
                <a:solidFill>
                  <a:srgbClr val="2E86AB"/>
                </a:solidFill>
                <a:latin typeface="Segoe UI"/>
              </a:defRPr>
            </a:pPr>
            <a:r>
              <a:t>Owner: DevOps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5029200"/>
            <a:ext cx="2743200" cy="27432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-457200"/>
            <a:ext cx="2286000" cy="228600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1. Review and validate the business system model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2. Align stakeholders on KPIs and SLA targets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3. Implement monitoring dashboards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4. Conduct risk mitigation planning</a:t>
            </a:r>
          </a:p>
          <a:p>
            <a:pPr>
              <a:spcAft>
                <a:spcPts val="400"/>
              </a:spcAft>
              <a:defRPr sz="1400" b="0">
                <a:solidFill>
                  <a:srgbClr val="B2BEC3"/>
                </a:solidFill>
                <a:latin typeface="Segoe UI"/>
              </a:defRPr>
            </a:pPr>
            <a:r>
              <a:t>5. Schedule quarterly business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636E72"/>
                </a:solidFill>
                <a:latin typeface="Segoe UI"/>
              </a:defRPr>
            </a:pPr>
            <a:r>
              <a:t>Generated by BSC · Business System Compiler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